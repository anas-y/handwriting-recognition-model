
<file path=[Content_Types].xml><?xml version="1.0" encoding="utf-8"?>
<Types xmlns="http://schemas.openxmlformats.org/package/2006/content-types">
  <Default Extension="emf" ContentType="image/x-emf"/>
  <Default Extension="fntdata" ContentType="application/x-fontdata"/>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69" r:id="rId1"/>
  </p:sldMasterIdLst>
  <p:notesMasterIdLst>
    <p:notesMasterId r:id="rId16"/>
  </p:notesMasterIdLst>
  <p:sldIdLst>
    <p:sldId id="267" r:id="rId2"/>
    <p:sldId id="257" r:id="rId3"/>
    <p:sldId id="258" r:id="rId4"/>
    <p:sldId id="259" r:id="rId5"/>
    <p:sldId id="260" r:id="rId6"/>
    <p:sldId id="262" r:id="rId7"/>
    <p:sldId id="261" r:id="rId8"/>
    <p:sldId id="268" r:id="rId9"/>
    <p:sldId id="263" r:id="rId10"/>
    <p:sldId id="264" r:id="rId11"/>
    <p:sldId id="269" r:id="rId12"/>
    <p:sldId id="265" r:id="rId13"/>
    <p:sldId id="270" r:id="rId14"/>
    <p:sldId id="266" r:id="rId15"/>
  </p:sldIdLst>
  <p:sldSz cx="12192000" cy="6858000"/>
  <p:notesSz cx="6858000" cy="9144000"/>
  <p:embeddedFontLst>
    <p:embeddedFont>
      <p:font typeface="ADLaM Display" panose="02010000000000000000" pitchFamily="2" charset="0"/>
      <p:regular r:id="rId17"/>
    </p:embeddedFont>
    <p:embeddedFont>
      <p:font typeface="Arimo" panose="020B0604020202020204" charset="0"/>
      <p:regular r:id="rId18"/>
      <p:bold r:id="rId19"/>
      <p:italic r:id="rId20"/>
      <p:boldItalic r:id="rId21"/>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6" d="100"/>
          <a:sy n="56" d="100"/>
        </p:scale>
        <p:origin x="1272" y="27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1" name="Google Shape;91;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8" name="Google Shape;98;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3" name="Google Shape;11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6" name="Google Shape;146;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7" name="Google Shape;137;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7" name="Google Shape;157;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5" name="Google Shape;175;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a:extLst>
            <a:ext uri="{FF2B5EF4-FFF2-40B4-BE49-F238E27FC236}">
              <a16:creationId xmlns:a16="http://schemas.microsoft.com/office/drawing/2014/main" id="{FEEC4ABD-2F9D-6FC4-240E-17E803BD2C44}"/>
            </a:ext>
          </a:extLst>
        </p:cNvPr>
        <p:cNvGrpSpPr/>
        <p:nvPr/>
      </p:nvGrpSpPr>
      <p:grpSpPr>
        <a:xfrm>
          <a:off x="0" y="0"/>
          <a:ext cx="0" cy="0"/>
          <a:chOff x="0" y="0"/>
          <a:chExt cx="0" cy="0"/>
        </a:xfrm>
      </p:grpSpPr>
      <p:sp>
        <p:nvSpPr>
          <p:cNvPr id="174" name="Google Shape;174;p9:notes">
            <a:extLst>
              <a:ext uri="{FF2B5EF4-FFF2-40B4-BE49-F238E27FC236}">
                <a16:creationId xmlns:a16="http://schemas.microsoft.com/office/drawing/2014/main" id="{96BFBC63-D2AF-D4DD-2270-A832F3FE3F8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5" name="Google Shape;175;p9:notes">
            <a:extLst>
              <a:ext uri="{FF2B5EF4-FFF2-40B4-BE49-F238E27FC236}">
                <a16:creationId xmlns:a16="http://schemas.microsoft.com/office/drawing/2014/main" id="{B4C4E78B-5DAB-158B-5B4E-827302F23C9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351484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8" name="Google Shape;188;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a:extLst>
            <a:ext uri="{FF2B5EF4-FFF2-40B4-BE49-F238E27FC236}">
              <a16:creationId xmlns:a16="http://schemas.microsoft.com/office/drawing/2014/main" id="{F1FFBBFE-B4E9-7751-E724-3AC2753C1D07}"/>
            </a:ext>
          </a:extLst>
        </p:cNvPr>
        <p:cNvGrpSpPr/>
        <p:nvPr/>
      </p:nvGrpSpPr>
      <p:grpSpPr>
        <a:xfrm>
          <a:off x="0" y="0"/>
          <a:ext cx="0" cy="0"/>
          <a:chOff x="0" y="0"/>
          <a:chExt cx="0" cy="0"/>
        </a:xfrm>
      </p:grpSpPr>
      <p:sp>
        <p:nvSpPr>
          <p:cNvPr id="187" name="Google Shape;187;p10:notes">
            <a:extLst>
              <a:ext uri="{FF2B5EF4-FFF2-40B4-BE49-F238E27FC236}">
                <a16:creationId xmlns:a16="http://schemas.microsoft.com/office/drawing/2014/main" id="{F0626CC0-58A2-E7A0-E0CD-00F6A22EDFE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8" name="Google Shape;188;p10:notes">
            <a:extLst>
              <a:ext uri="{FF2B5EF4-FFF2-40B4-BE49-F238E27FC236}">
                <a16:creationId xmlns:a16="http://schemas.microsoft.com/office/drawing/2014/main" id="{06E83014-5DA2-F4BE-2AB3-949D950771E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347278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5" name="Google Shape;195;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6318119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9517054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7716577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7804025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2198350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7406532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8773972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9446873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844430433"/>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689515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1482797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708065461"/>
      </p:ext>
    </p:extLst>
  </p:cSld>
  <p:clrMap bg1="lt1" tx1="dk1" bg2="lt2" tx2="dk2" accent1="accent1" accent2="accent2" accent3="accent3" accent4="accent4" accent5="accent5" accent6="accent6" hlink="hlink" folHlink="folHlink"/>
  <p:sldLayoutIdLst>
    <p:sldLayoutId id="2147483770" r:id="rId1"/>
    <p:sldLayoutId id="2147483771" r:id="rId2"/>
    <p:sldLayoutId id="2147483772" r:id="rId3"/>
    <p:sldLayoutId id="2147483773" r:id="rId4"/>
    <p:sldLayoutId id="2147483774" r:id="rId5"/>
    <p:sldLayoutId id="2147483775" r:id="rId6"/>
    <p:sldLayoutId id="2147483776" r:id="rId7"/>
    <p:sldLayoutId id="2147483777" r:id="rId8"/>
    <p:sldLayoutId id="2147483778" r:id="rId9"/>
    <p:sldLayoutId id="2147483779" r:id="rId10"/>
    <p:sldLayoutId id="2147483780"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microsoft.com/office/2007/relationships/hdphoto" Target="../media/hdphoto3.wdp"/><Relationship Id="rId13"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5.png"/><Relationship Id="rId12" Type="http://schemas.microsoft.com/office/2007/relationships/hdphoto" Target="../media/hdphoto5.wdp"/><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microsoft.com/office/2007/relationships/hdphoto" Target="../media/hdphoto2.wdp"/><Relationship Id="rId11" Type="http://schemas.openxmlformats.org/officeDocument/2006/relationships/image" Target="../media/image7.png"/><Relationship Id="rId5" Type="http://schemas.openxmlformats.org/officeDocument/2006/relationships/image" Target="../media/image4.png"/><Relationship Id="rId10" Type="http://schemas.microsoft.com/office/2007/relationships/hdphoto" Target="../media/hdphoto4.wdp"/><Relationship Id="rId4" Type="http://schemas.microsoft.com/office/2007/relationships/hdphoto" Target="../media/hdphoto1.wdp"/><Relationship Id="rId9" Type="http://schemas.openxmlformats.org/officeDocument/2006/relationships/image" Target="../media/image6.png"/><Relationship Id="rId14" Type="http://schemas.microsoft.com/office/2007/relationships/hdphoto" Target="../media/hdphoto6.wdp"/></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microsoft.com/office/2007/relationships/hdphoto" Target="../media/hdphoto8.wdp"/><Relationship Id="rId5" Type="http://schemas.openxmlformats.org/officeDocument/2006/relationships/image" Target="../media/image10.png"/><Relationship Id="rId4" Type="http://schemas.microsoft.com/office/2007/relationships/hdphoto" Target="../media/hdphoto7.wdp"/></Relationships>
</file>

<file path=ppt/slides/_rels/slide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8" Type="http://schemas.microsoft.com/office/2007/relationships/hdphoto" Target="../media/hdphoto11.wdp"/><Relationship Id="rId3" Type="http://schemas.openxmlformats.org/officeDocument/2006/relationships/image" Target="../media/image12.png"/><Relationship Id="rId7"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microsoft.com/office/2007/relationships/hdphoto" Target="../media/hdphoto10.wdp"/><Relationship Id="rId5" Type="http://schemas.openxmlformats.org/officeDocument/2006/relationships/image" Target="../media/image13.png"/><Relationship Id="rId10" Type="http://schemas.microsoft.com/office/2007/relationships/hdphoto" Target="../media/hdphoto12.wdp"/><Relationship Id="rId4" Type="http://schemas.microsoft.com/office/2007/relationships/hdphoto" Target="../media/hdphoto9.wdp"/><Relationship Id="rId9" Type="http://schemas.openxmlformats.org/officeDocument/2006/relationships/image" Target="../media/image15.png"/></Relationships>
</file>

<file path=ppt/slides/_rels/slide11.xml.rels><?xml version="1.0" encoding="UTF-8" standalone="yes"?>
<Relationships xmlns="http://schemas.openxmlformats.org/package/2006/relationships"><Relationship Id="rId8" Type="http://schemas.microsoft.com/office/2007/relationships/hdphoto" Target="../media/hdphoto12.wdp"/><Relationship Id="rId3" Type="http://schemas.openxmlformats.org/officeDocument/2006/relationships/image" Target="../media/image13.png"/><Relationship Id="rId7"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microsoft.com/office/2007/relationships/hdphoto" Target="../media/hdphoto11.wdp"/><Relationship Id="rId5" Type="http://schemas.openxmlformats.org/officeDocument/2006/relationships/image" Target="../media/image14.png"/><Relationship Id="rId4" Type="http://schemas.microsoft.com/office/2007/relationships/hdphoto" Target="../media/hdphoto10.wdp"/></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sX0" fmla="*/ 0 w 3474720"/>
              <a:gd name="csY0" fmla="*/ 0 h 18288"/>
              <a:gd name="csX1" fmla="*/ 694944 w 3474720"/>
              <a:gd name="csY1" fmla="*/ 0 h 18288"/>
              <a:gd name="csX2" fmla="*/ 1355141 w 3474720"/>
              <a:gd name="csY2" fmla="*/ 0 h 18288"/>
              <a:gd name="csX3" fmla="*/ 2015338 w 3474720"/>
              <a:gd name="csY3" fmla="*/ 0 h 18288"/>
              <a:gd name="csX4" fmla="*/ 2779776 w 3474720"/>
              <a:gd name="csY4" fmla="*/ 0 h 18288"/>
              <a:gd name="csX5" fmla="*/ 3474720 w 3474720"/>
              <a:gd name="csY5" fmla="*/ 0 h 18288"/>
              <a:gd name="csX6" fmla="*/ 3474720 w 3474720"/>
              <a:gd name="csY6" fmla="*/ 18288 h 18288"/>
              <a:gd name="csX7" fmla="*/ 2779776 w 3474720"/>
              <a:gd name="csY7" fmla="*/ 18288 h 18288"/>
              <a:gd name="csX8" fmla="*/ 2189074 w 3474720"/>
              <a:gd name="csY8" fmla="*/ 18288 h 18288"/>
              <a:gd name="csX9" fmla="*/ 1528877 w 3474720"/>
              <a:gd name="csY9" fmla="*/ 18288 h 18288"/>
              <a:gd name="csX10" fmla="*/ 868680 w 3474720"/>
              <a:gd name="csY10" fmla="*/ 18288 h 18288"/>
              <a:gd name="csX11" fmla="*/ 0 w 3474720"/>
              <a:gd name="csY11" fmla="*/ 18288 h 18288"/>
              <a:gd name="csX12" fmla="*/ 0 w 347472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973DCDA0-29FC-CD2A-C9F9-E22717D03258}"/>
              </a:ext>
            </a:extLst>
          </p:cNvPr>
          <p:cNvSpPr txBox="1"/>
          <p:nvPr/>
        </p:nvSpPr>
        <p:spPr>
          <a:xfrm>
            <a:off x="304370" y="2823153"/>
            <a:ext cx="4915006" cy="1361531"/>
          </a:xfrm>
          <a:prstGeom prst="rect">
            <a:avLst/>
          </a:prstGeom>
        </p:spPr>
        <p:txBody>
          <a:bodyPr vert="horz" lIns="91440" tIns="45720" rIns="91440" bIns="45720" rtlCol="0">
            <a:normAutofit/>
          </a:bodyPr>
          <a:lstStyle/>
          <a:p>
            <a:pPr algn="ctr" defTabSz="914400">
              <a:lnSpc>
                <a:spcPct val="90000"/>
              </a:lnSpc>
              <a:spcAft>
                <a:spcPts val="600"/>
              </a:spcAft>
            </a:pPr>
            <a:r>
              <a:rPr lang="en-US" b="1" dirty="0"/>
              <a:t>MACHINE LEARNING (DSC 805)</a:t>
            </a:r>
          </a:p>
          <a:p>
            <a:pPr algn="ctr" defTabSz="914400">
              <a:lnSpc>
                <a:spcPct val="90000"/>
              </a:lnSpc>
              <a:spcAft>
                <a:spcPts val="600"/>
              </a:spcAft>
            </a:pPr>
            <a:r>
              <a:rPr lang="en-US" b="1" dirty="0"/>
              <a:t>A </a:t>
            </a:r>
            <a:r>
              <a:rPr lang="en-GB" b="1" dirty="0"/>
              <a:t>Capstone Project Proposal  for Group 4</a:t>
            </a:r>
          </a:p>
          <a:p>
            <a:pPr algn="ctr" defTabSz="914400">
              <a:lnSpc>
                <a:spcPct val="90000"/>
              </a:lnSpc>
              <a:spcAft>
                <a:spcPts val="600"/>
              </a:spcAft>
            </a:pPr>
            <a:r>
              <a:rPr lang="en-US" i="1" dirty="0"/>
              <a:t>On 6</a:t>
            </a:r>
            <a:r>
              <a:rPr lang="en-US" i="1" baseline="30000" dirty="0"/>
              <a:t>th</a:t>
            </a:r>
            <a:r>
              <a:rPr lang="en-US" i="1" dirty="0"/>
              <a:t> March,2026</a:t>
            </a:r>
          </a:p>
          <a:p>
            <a:pPr algn="ctr" defTabSz="914400">
              <a:lnSpc>
                <a:spcPct val="90000"/>
              </a:lnSpc>
              <a:spcAft>
                <a:spcPts val="600"/>
              </a:spcAft>
            </a:pPr>
            <a:endParaRPr lang="en-GB" sz="2200" dirty="0"/>
          </a:p>
          <a:p>
            <a:pPr algn="ctr" defTabSz="914400">
              <a:lnSpc>
                <a:spcPct val="90000"/>
              </a:lnSpc>
              <a:spcAft>
                <a:spcPts val="600"/>
              </a:spcAft>
            </a:pPr>
            <a:endParaRPr lang="en-GB" sz="2200" dirty="0"/>
          </a:p>
          <a:p>
            <a:pPr algn="ctr" defTabSz="914400">
              <a:lnSpc>
                <a:spcPct val="90000"/>
              </a:lnSpc>
              <a:spcAft>
                <a:spcPts val="600"/>
              </a:spcAft>
            </a:pPr>
            <a:endParaRPr lang="en-GB" sz="2200" dirty="0"/>
          </a:p>
          <a:p>
            <a:pPr algn="ctr" defTabSz="914400">
              <a:lnSpc>
                <a:spcPct val="90000"/>
              </a:lnSpc>
              <a:spcAft>
                <a:spcPts val="600"/>
              </a:spcAft>
            </a:pPr>
            <a:endParaRPr lang="en-GB" sz="2200" dirty="0"/>
          </a:p>
          <a:p>
            <a:pPr defTabSz="914400">
              <a:lnSpc>
                <a:spcPct val="90000"/>
              </a:lnSpc>
              <a:spcAft>
                <a:spcPts val="600"/>
              </a:spcAft>
            </a:pPr>
            <a:endParaRPr lang="en-US" sz="2200" dirty="0"/>
          </a:p>
        </p:txBody>
      </p:sp>
      <p:pic>
        <p:nvPicPr>
          <p:cNvPr id="7" name="Picture 6">
            <a:extLst>
              <a:ext uri="{FF2B5EF4-FFF2-40B4-BE49-F238E27FC236}">
                <a16:creationId xmlns:a16="http://schemas.microsoft.com/office/drawing/2014/main" id="{DA65A5CA-6929-45BF-A402-E6DBCF3DD66F}"/>
              </a:ext>
            </a:extLst>
          </p:cNvPr>
          <p:cNvPicPr>
            <a:picLocks noChangeAspect="1"/>
          </p:cNvPicPr>
          <p:nvPr/>
        </p:nvPicPr>
        <p:blipFill>
          <a:blip r:embed="rId2"/>
          <a:srcRect t="7418" b="7418"/>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
        <p:nvSpPr>
          <p:cNvPr id="6" name="TextBox 5">
            <a:extLst>
              <a:ext uri="{FF2B5EF4-FFF2-40B4-BE49-F238E27FC236}">
                <a16:creationId xmlns:a16="http://schemas.microsoft.com/office/drawing/2014/main" id="{F232DF5C-5040-A61B-38F8-81C7D4B8E260}"/>
              </a:ext>
            </a:extLst>
          </p:cNvPr>
          <p:cNvSpPr txBox="1"/>
          <p:nvPr/>
        </p:nvSpPr>
        <p:spPr>
          <a:xfrm>
            <a:off x="-234944" y="1153263"/>
            <a:ext cx="5993633" cy="1361532"/>
          </a:xfrm>
          <a:prstGeom prst="rect">
            <a:avLst/>
          </a:prstGeom>
        </p:spPr>
        <p:txBody>
          <a:bodyPr vert="horz" lIns="91440" tIns="45720" rIns="91440" bIns="45720" rtlCol="0">
            <a:noAutofit/>
          </a:bodyPr>
          <a:lstStyle/>
          <a:p>
            <a:pPr algn="ctr" defTabSz="914400">
              <a:spcAft>
                <a:spcPts val="600"/>
              </a:spcAft>
            </a:pPr>
            <a:r>
              <a:rPr lang="en-US" sz="3200" b="1" dirty="0">
                <a:solidFill>
                  <a:schemeClr val="accent2"/>
                </a:solidFill>
                <a:latin typeface="ADLaM Display" panose="020F0502020204030204" pitchFamily="2" charset="0"/>
                <a:ea typeface="ADLaM Display" panose="020F0502020204030204" pitchFamily="2" charset="0"/>
                <a:cs typeface="ADLaM Display" panose="020F0502020204030204" pitchFamily="2" charset="0"/>
              </a:rPr>
              <a:t>Handwriting Recognition</a:t>
            </a:r>
            <a:br>
              <a:rPr lang="en-US" sz="3200" b="1" dirty="0">
                <a:solidFill>
                  <a:schemeClr val="accent2"/>
                </a:solidFill>
                <a:latin typeface="ADLaM Display" panose="020F0502020204030204" pitchFamily="2" charset="0"/>
                <a:ea typeface="ADLaM Display" panose="020F0502020204030204" pitchFamily="2" charset="0"/>
                <a:cs typeface="ADLaM Display" panose="020F0502020204030204" pitchFamily="2" charset="0"/>
              </a:rPr>
            </a:br>
            <a:r>
              <a:rPr lang="en-US" sz="3200" b="1" dirty="0">
                <a:solidFill>
                  <a:schemeClr val="accent2"/>
                </a:solidFill>
                <a:latin typeface="ADLaM Display" panose="020F0502020204030204" pitchFamily="2" charset="0"/>
                <a:ea typeface="ADLaM Display" panose="020F0502020204030204" pitchFamily="2" charset="0"/>
                <a:cs typeface="ADLaM Display" panose="020F0502020204030204" pitchFamily="2" charset="0"/>
              </a:rPr>
              <a:t> for Historical Documents </a:t>
            </a:r>
          </a:p>
        </p:txBody>
      </p:sp>
      <p:sp>
        <p:nvSpPr>
          <p:cNvPr id="8" name="TextBox 7">
            <a:extLst>
              <a:ext uri="{FF2B5EF4-FFF2-40B4-BE49-F238E27FC236}">
                <a16:creationId xmlns:a16="http://schemas.microsoft.com/office/drawing/2014/main" id="{ECD49CB7-A2F9-7CE9-2ECE-C722CBFE816C}"/>
              </a:ext>
            </a:extLst>
          </p:cNvPr>
          <p:cNvSpPr txBox="1"/>
          <p:nvPr/>
        </p:nvSpPr>
        <p:spPr>
          <a:xfrm>
            <a:off x="165881" y="3748776"/>
            <a:ext cx="5099658" cy="1361531"/>
          </a:xfrm>
          <a:prstGeom prst="rect">
            <a:avLst/>
          </a:prstGeom>
        </p:spPr>
        <p:txBody>
          <a:bodyPr vert="horz" lIns="91440" tIns="45720" rIns="91440" bIns="45720" rtlCol="0">
            <a:normAutofit/>
          </a:bodyPr>
          <a:lstStyle/>
          <a:p>
            <a:pPr algn="ctr" defTabSz="914400">
              <a:lnSpc>
                <a:spcPct val="90000"/>
              </a:lnSpc>
              <a:spcAft>
                <a:spcPts val="600"/>
              </a:spcAft>
            </a:pPr>
            <a:r>
              <a:rPr lang="en-US" sz="1600" b="1" dirty="0"/>
              <a:t>At</a:t>
            </a:r>
          </a:p>
          <a:p>
            <a:pPr algn="ctr" defTabSz="914400">
              <a:lnSpc>
                <a:spcPct val="90000"/>
              </a:lnSpc>
              <a:spcAft>
                <a:spcPts val="600"/>
              </a:spcAft>
            </a:pPr>
            <a:r>
              <a:rPr lang="en-US" sz="1600" b="1" dirty="0"/>
              <a:t>AMERICAN UNIVERSITY OF NIGERIA,YOLA</a:t>
            </a:r>
          </a:p>
          <a:p>
            <a:pPr algn="ctr" defTabSz="914400">
              <a:lnSpc>
                <a:spcPct val="90000"/>
              </a:lnSpc>
              <a:spcAft>
                <a:spcPts val="600"/>
              </a:spcAft>
            </a:pPr>
            <a:r>
              <a:rPr lang="en-US" sz="1600" b="1" dirty="0"/>
              <a:t>Graduate school, MSc Data Science &amp; Analytics </a:t>
            </a:r>
            <a:endParaRPr lang="en-US" sz="1600" dirty="0"/>
          </a:p>
        </p:txBody>
      </p:sp>
      <p:sp>
        <p:nvSpPr>
          <p:cNvPr id="9" name="TextBox 8">
            <a:extLst>
              <a:ext uri="{FF2B5EF4-FFF2-40B4-BE49-F238E27FC236}">
                <a16:creationId xmlns:a16="http://schemas.microsoft.com/office/drawing/2014/main" id="{332B3372-AA85-1694-5F76-867F3FB6E0C4}"/>
              </a:ext>
            </a:extLst>
          </p:cNvPr>
          <p:cNvSpPr txBox="1"/>
          <p:nvPr/>
        </p:nvSpPr>
        <p:spPr>
          <a:xfrm>
            <a:off x="0" y="4747494"/>
            <a:ext cx="5099658" cy="1596794"/>
          </a:xfrm>
          <a:prstGeom prst="rect">
            <a:avLst/>
          </a:prstGeom>
        </p:spPr>
        <p:txBody>
          <a:bodyPr vert="horz" lIns="91440" tIns="45720" rIns="91440" bIns="45720" rtlCol="0">
            <a:normAutofit fontScale="92500" lnSpcReduction="10000"/>
          </a:bodyPr>
          <a:lstStyle/>
          <a:p>
            <a:pPr algn="ctr" defTabSz="914400">
              <a:lnSpc>
                <a:spcPct val="90000"/>
              </a:lnSpc>
              <a:spcAft>
                <a:spcPts val="600"/>
              </a:spcAft>
            </a:pPr>
            <a:r>
              <a:rPr lang="en-US" sz="1900" b="1" dirty="0"/>
              <a:t>By</a:t>
            </a:r>
          </a:p>
          <a:p>
            <a:pPr algn="ctr" defTabSz="914400">
              <a:lnSpc>
                <a:spcPct val="90000"/>
              </a:lnSpc>
              <a:spcAft>
                <a:spcPts val="600"/>
              </a:spcAft>
            </a:pPr>
            <a:r>
              <a:rPr lang="en-US" sz="1900" b="1" i="1" dirty="0"/>
              <a:t>Anas Yunusa Adamu (A00026424</a:t>
            </a:r>
          </a:p>
          <a:p>
            <a:pPr algn="ctr" defTabSz="914400">
              <a:lnSpc>
                <a:spcPct val="90000"/>
              </a:lnSpc>
              <a:spcAft>
                <a:spcPts val="600"/>
              </a:spcAft>
            </a:pPr>
            <a:r>
              <a:rPr lang="en-US" sz="1900" b="1" i="1" dirty="0"/>
              <a:t>Sadiq</a:t>
            </a:r>
          </a:p>
          <a:p>
            <a:pPr algn="ctr" defTabSz="914400">
              <a:lnSpc>
                <a:spcPct val="90000"/>
              </a:lnSpc>
              <a:spcAft>
                <a:spcPts val="600"/>
              </a:spcAft>
            </a:pPr>
            <a:r>
              <a:rPr lang="en-US" sz="2200" b="1" i="1" dirty="0"/>
              <a:t>Moses</a:t>
            </a:r>
          </a:p>
          <a:p>
            <a:pPr algn="ctr" defTabSz="914400">
              <a:lnSpc>
                <a:spcPct val="90000"/>
              </a:lnSpc>
              <a:spcAft>
                <a:spcPts val="600"/>
              </a:spcAft>
            </a:pPr>
            <a:r>
              <a:rPr lang="en-US" sz="2200" b="1" i="1" dirty="0" err="1"/>
              <a:t>Gezawa</a:t>
            </a:r>
            <a:endParaRPr lang="en-US" sz="2200" b="1" i="1" dirty="0"/>
          </a:p>
        </p:txBody>
      </p:sp>
    </p:spTree>
    <p:extLst>
      <p:ext uri="{BB962C8B-B14F-4D97-AF65-F5344CB8AC3E}">
        <p14:creationId xmlns:p14="http://schemas.microsoft.com/office/powerpoint/2010/main" val="18986071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92"/>
        <p:cNvGrpSpPr/>
        <p:nvPr/>
      </p:nvGrpSpPr>
      <p:grpSpPr>
        <a:xfrm>
          <a:off x="0" y="0"/>
          <a:ext cx="0" cy="0"/>
          <a:chOff x="0" y="0"/>
          <a:chExt cx="0" cy="0"/>
        </a:xfrm>
      </p:grpSpPr>
      <p:sp useBgFill="1">
        <p:nvSpPr>
          <p:cNvPr id="100" name="Rectangle 99">
            <a:extLst>
              <a:ext uri="{FF2B5EF4-FFF2-40B4-BE49-F238E27FC236}">
                <a16:creationId xmlns:a16="http://schemas.microsoft.com/office/drawing/2014/main" id="{4E1BEB12-92AF-4445-98AD-4C7756E7C9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Rectangle 101">
            <a:extLst>
              <a:ext uri="{FF2B5EF4-FFF2-40B4-BE49-F238E27FC236}">
                <a16:creationId xmlns:a16="http://schemas.microsoft.com/office/drawing/2014/main" id="{D0522C2C-7B5C-48A7-A969-03941E5D2E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4" name="Freeform 13">
            <a:extLst>
              <a:ext uri="{FF2B5EF4-FFF2-40B4-BE49-F238E27FC236}">
                <a16:creationId xmlns:a16="http://schemas.microsoft.com/office/drawing/2014/main" id="{9C682A1A-5B2D-4111-BBD6-620165633E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769476" y="220196"/>
            <a:ext cx="9422524" cy="6637806"/>
          </a:xfrm>
          <a:custGeom>
            <a:avLst/>
            <a:gdLst>
              <a:gd name="connsiteX0" fmla="*/ 4929467 w 8191500"/>
              <a:gd name="connsiteY0" fmla="*/ 0 h 5770597"/>
              <a:gd name="connsiteX1" fmla="*/ 8065066 w 8191500"/>
              <a:gd name="connsiteY1" fmla="*/ 1118513 h 5770597"/>
              <a:gd name="connsiteX2" fmla="*/ 8191500 w 8191500"/>
              <a:gd name="connsiteY2" fmla="*/ 1227339 h 5770597"/>
              <a:gd name="connsiteX3" fmla="*/ 8191500 w 8191500"/>
              <a:gd name="connsiteY3" fmla="*/ 5770597 h 5770597"/>
              <a:gd name="connsiteX4" fmla="*/ 79523 w 8191500"/>
              <a:gd name="connsiteY4" fmla="*/ 5770597 h 5770597"/>
              <a:gd name="connsiteX5" fmla="*/ 56799 w 8191500"/>
              <a:gd name="connsiteY5" fmla="*/ 5644158 h 5770597"/>
              <a:gd name="connsiteX6" fmla="*/ 0 w 8191500"/>
              <a:gd name="connsiteY6" fmla="*/ 4898209 h 5770597"/>
              <a:gd name="connsiteX7" fmla="*/ 4929467 w 8191500"/>
              <a:gd name="connsiteY7" fmla="*/ 0 h 5770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91500" h="5770597">
                <a:moveTo>
                  <a:pt x="4929467" y="0"/>
                </a:moveTo>
                <a:cubicBezTo>
                  <a:pt x="6120547" y="0"/>
                  <a:pt x="7212963" y="419755"/>
                  <a:pt x="8065066" y="1118513"/>
                </a:cubicBezTo>
                <a:lnTo>
                  <a:pt x="8191500" y="1227339"/>
                </a:lnTo>
                <a:lnTo>
                  <a:pt x="8191500" y="5770597"/>
                </a:lnTo>
                <a:lnTo>
                  <a:pt x="79523" y="5770597"/>
                </a:lnTo>
                <a:lnTo>
                  <a:pt x="56799" y="5644158"/>
                </a:lnTo>
                <a:cubicBezTo>
                  <a:pt x="19398" y="5400934"/>
                  <a:pt x="0" y="5151822"/>
                  <a:pt x="0" y="4898209"/>
                </a:cubicBezTo>
                <a:cubicBezTo>
                  <a:pt x="0" y="2193003"/>
                  <a:pt x="2206998" y="0"/>
                  <a:pt x="4929467"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06" name="Oval 105">
            <a:extLst>
              <a:ext uri="{FF2B5EF4-FFF2-40B4-BE49-F238E27FC236}">
                <a16:creationId xmlns:a16="http://schemas.microsoft.com/office/drawing/2014/main" id="{D6EE29F2-D77F-4BD0-A20B-334D316A1C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09800" y="2099696"/>
            <a:ext cx="1942241" cy="1889551"/>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08" name="Arc 107">
            <a:extLst>
              <a:ext uri="{FF2B5EF4-FFF2-40B4-BE49-F238E27FC236}">
                <a16:creationId xmlns:a16="http://schemas.microsoft.com/office/drawing/2014/main" id="{22D09ED2-868F-42C6-866E-F92E0CEF31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520172">
            <a:off x="1613162" y="1492572"/>
            <a:ext cx="2987899" cy="2987899"/>
          </a:xfrm>
          <a:prstGeom prst="arc">
            <a:avLst>
              <a:gd name="adj1" fmla="val 14455503"/>
              <a:gd name="adj2" fmla="val 227775"/>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94" name="Google Shape;94;p14"/>
          <p:cNvSpPr txBox="1"/>
          <p:nvPr/>
        </p:nvSpPr>
        <p:spPr>
          <a:xfrm>
            <a:off x="5585816" y="1069675"/>
            <a:ext cx="4199763" cy="2004428"/>
          </a:xfrm>
          <a:prstGeom prst="rect">
            <a:avLst/>
          </a:prstGeom>
        </p:spPr>
        <p:txBody>
          <a:bodyPr spcFirstLastPara="1" vert="horz" lIns="91440" tIns="45720" rIns="91440" bIns="45720" rtlCol="0" anchor="b" anchorCtr="0">
            <a:normAutofit/>
          </a:bodyPr>
          <a:lstStyle/>
          <a:p>
            <a:pPr marL="0" marR="0" lvl="0" indent="0" algn="r" defTabSz="914400">
              <a:lnSpc>
                <a:spcPct val="90000"/>
              </a:lnSpc>
              <a:spcBef>
                <a:spcPct val="0"/>
              </a:spcBef>
              <a:spcAft>
                <a:spcPts val="600"/>
              </a:spcAft>
            </a:pPr>
            <a:r>
              <a:rPr lang="en-US" sz="6000" b="1" i="0" u="none" strike="noStrike" kern="1200" cap="none" dirty="0">
                <a:solidFill>
                  <a:schemeClr val="accent2"/>
                </a:solidFill>
                <a:latin typeface="+mj-lt"/>
                <a:ea typeface="+mj-ea"/>
                <a:cs typeface="+mj-cs"/>
                <a:sym typeface="Arimo"/>
              </a:rPr>
              <a:t>Introduction</a:t>
            </a:r>
            <a:endParaRPr lang="en-US" sz="6000" kern="1200" dirty="0">
              <a:solidFill>
                <a:schemeClr val="accent2"/>
              </a:solidFill>
              <a:latin typeface="+mj-lt"/>
              <a:ea typeface="+mj-ea"/>
              <a:cs typeface="+mj-cs"/>
            </a:endParaRPr>
          </a:p>
        </p:txBody>
      </p:sp>
      <p:sp>
        <p:nvSpPr>
          <p:cNvPr id="95" name="Google Shape;95;p14"/>
          <p:cNvSpPr txBox="1"/>
          <p:nvPr/>
        </p:nvSpPr>
        <p:spPr>
          <a:xfrm>
            <a:off x="4152041" y="2971887"/>
            <a:ext cx="7666147" cy="2566271"/>
          </a:xfrm>
          <a:prstGeom prst="rect">
            <a:avLst/>
          </a:prstGeom>
        </p:spPr>
        <p:txBody>
          <a:bodyPr spcFirstLastPara="1" vert="horz" lIns="91440" tIns="45720" rIns="91440" bIns="45720" rtlCol="0" anchorCtr="0">
            <a:normAutofit/>
          </a:bodyPr>
          <a:lstStyle/>
          <a:p>
            <a:pPr marR="0" lvl="0" algn="just" defTabSz="914400">
              <a:lnSpc>
                <a:spcPct val="90000"/>
              </a:lnSpc>
              <a:spcBef>
                <a:spcPts val="1000"/>
              </a:spcBef>
              <a:spcAft>
                <a:spcPts val="0"/>
              </a:spcAft>
            </a:pPr>
            <a:r>
              <a:rPr lang="en-GB" dirty="0"/>
              <a:t>Digitizing historical handwritten documents manually, is an intensely labour-intensive task, which required a typist with a typewriter or computer with word </a:t>
            </a:r>
            <a:r>
              <a:rPr lang="en-US" dirty="0"/>
              <a:t>processors Application.</a:t>
            </a:r>
            <a:endParaRPr lang="en-GB" sz="2400" b="0" i="0" u="none" strike="noStrike" kern="1200" cap="none" dirty="0">
              <a:solidFill>
                <a:schemeClr val="tx1"/>
              </a:solidFill>
              <a:latin typeface="+mn-lt"/>
              <a:ea typeface="+mn-ea"/>
              <a:cs typeface="+mn-cs"/>
              <a:sym typeface="Azeret Mono"/>
            </a:endParaRPr>
          </a:p>
          <a:p>
            <a:pPr marR="0" lvl="0" algn="just" defTabSz="914400">
              <a:lnSpc>
                <a:spcPct val="90000"/>
              </a:lnSpc>
              <a:spcBef>
                <a:spcPts val="1000"/>
              </a:spcBef>
              <a:spcAft>
                <a:spcPts val="0"/>
              </a:spcAft>
            </a:pPr>
            <a:r>
              <a:rPr lang="en-GB" b="0" i="0" u="none" strike="noStrike" kern="1200" cap="none" dirty="0">
                <a:solidFill>
                  <a:schemeClr val="tx1"/>
                </a:solidFill>
                <a:latin typeface="+mn-lt"/>
                <a:ea typeface="+mn-ea"/>
                <a:cs typeface="+mn-cs"/>
                <a:sym typeface="Azeret Mono"/>
              </a:rPr>
              <a:t>Computer Vision provides a scalable solution to this challenge, making it more </a:t>
            </a:r>
            <a:r>
              <a:rPr lang="en-US" b="0" i="0" u="none" strike="noStrike" kern="1200" cap="none" dirty="0">
                <a:solidFill>
                  <a:schemeClr val="tx1"/>
                </a:solidFill>
                <a:latin typeface="+mn-lt"/>
                <a:ea typeface="+mn-ea"/>
                <a:cs typeface="+mn-cs"/>
                <a:sym typeface="Azeret Mono"/>
              </a:rPr>
              <a:t>easier to digitize and preserve </a:t>
            </a:r>
            <a:r>
              <a:rPr lang="en-GB" dirty="0"/>
              <a:t>historical handwritten documents.</a:t>
            </a:r>
            <a:endParaRPr lang="en-US" kern="1200" dirty="0">
              <a:solidFill>
                <a:schemeClr val="tx1"/>
              </a:solidFill>
              <a:latin typeface="+mn-lt"/>
              <a:ea typeface="+mn-ea"/>
              <a:cs typeface="+mn-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99"/>
        <p:cNvGrpSpPr/>
        <p:nvPr/>
      </p:nvGrpSpPr>
      <p:grpSpPr>
        <a:xfrm>
          <a:off x="0" y="0"/>
          <a:ext cx="0" cy="0"/>
          <a:chOff x="0" y="0"/>
          <a:chExt cx="0" cy="0"/>
        </a:xfrm>
      </p:grpSpPr>
      <p:sp useBgFill="1">
        <p:nvSpPr>
          <p:cNvPr id="116" name="Rectangle 115">
            <a:extLst>
              <a:ext uri="{FF2B5EF4-FFF2-40B4-BE49-F238E27FC236}">
                <a16:creationId xmlns:a16="http://schemas.microsoft.com/office/drawing/2014/main" id="{9B7AD9F6-8CE7-4299-8FC6-328F4DCD3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Google Shape;110;p15"/>
          <p:cNvSpPr txBox="1"/>
          <p:nvPr/>
        </p:nvSpPr>
        <p:spPr>
          <a:xfrm>
            <a:off x="-13498" y="254724"/>
            <a:ext cx="6097525" cy="1494926"/>
          </a:xfrm>
          <a:prstGeom prst="rect">
            <a:avLst/>
          </a:prstGeom>
        </p:spPr>
        <p:txBody>
          <a:bodyPr spcFirstLastPara="1" vert="horz" lIns="91440" tIns="45720" rIns="91440" bIns="45720" rtlCol="0" anchor="b" anchorCtr="0">
            <a:normAutofit lnSpcReduction="10000"/>
          </a:bodyPr>
          <a:lstStyle/>
          <a:p>
            <a:pPr marL="0" marR="0" lvl="0" indent="0" algn="ctr" defTabSz="914400">
              <a:lnSpc>
                <a:spcPct val="90000"/>
              </a:lnSpc>
              <a:spcBef>
                <a:spcPct val="0"/>
              </a:spcBef>
              <a:spcAft>
                <a:spcPts val="600"/>
              </a:spcAft>
            </a:pPr>
            <a:r>
              <a:rPr lang="en-US" sz="5400" b="1" i="0" u="none" strike="noStrike" cap="none" dirty="0">
                <a:solidFill>
                  <a:schemeClr val="accent2"/>
                </a:solidFill>
                <a:latin typeface="+mj-lt"/>
                <a:ea typeface="+mj-ea"/>
                <a:cs typeface="+mj-cs"/>
                <a:sym typeface="Arimo"/>
              </a:rPr>
              <a:t>The Problem Statement </a:t>
            </a:r>
            <a:endParaRPr lang="en-US" sz="5400" b="1" dirty="0">
              <a:solidFill>
                <a:schemeClr val="accent2"/>
              </a:solidFill>
              <a:latin typeface="+mj-lt"/>
              <a:ea typeface="+mj-ea"/>
              <a:cs typeface="+mj-cs"/>
            </a:endParaRPr>
          </a:p>
        </p:txBody>
      </p:sp>
      <p:sp>
        <p:nvSpPr>
          <p:cNvPr id="118" name="sketchy line">
            <a:extLst>
              <a:ext uri="{FF2B5EF4-FFF2-40B4-BE49-F238E27FC236}">
                <a16:creationId xmlns:a16="http://schemas.microsoft.com/office/drawing/2014/main" id="{F49775AF-8896-43EE-92C6-83497D6DC5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0338" y="4409267"/>
            <a:ext cx="3474720" cy="18288"/>
          </a:xfrm>
          <a:custGeom>
            <a:avLst/>
            <a:gdLst>
              <a:gd name="csX0" fmla="*/ 0 w 3474720"/>
              <a:gd name="csY0" fmla="*/ 0 h 18288"/>
              <a:gd name="csX1" fmla="*/ 694944 w 3474720"/>
              <a:gd name="csY1" fmla="*/ 0 h 18288"/>
              <a:gd name="csX2" fmla="*/ 1355141 w 3474720"/>
              <a:gd name="csY2" fmla="*/ 0 h 18288"/>
              <a:gd name="csX3" fmla="*/ 2015338 w 3474720"/>
              <a:gd name="csY3" fmla="*/ 0 h 18288"/>
              <a:gd name="csX4" fmla="*/ 2779776 w 3474720"/>
              <a:gd name="csY4" fmla="*/ 0 h 18288"/>
              <a:gd name="csX5" fmla="*/ 3474720 w 3474720"/>
              <a:gd name="csY5" fmla="*/ 0 h 18288"/>
              <a:gd name="csX6" fmla="*/ 3474720 w 3474720"/>
              <a:gd name="csY6" fmla="*/ 18288 h 18288"/>
              <a:gd name="csX7" fmla="*/ 2779776 w 3474720"/>
              <a:gd name="csY7" fmla="*/ 18288 h 18288"/>
              <a:gd name="csX8" fmla="*/ 2189074 w 3474720"/>
              <a:gd name="csY8" fmla="*/ 18288 h 18288"/>
              <a:gd name="csX9" fmla="*/ 1528877 w 3474720"/>
              <a:gd name="csY9" fmla="*/ 18288 h 18288"/>
              <a:gd name="csX10" fmla="*/ 868680 w 3474720"/>
              <a:gd name="csY10" fmla="*/ 18288 h 18288"/>
              <a:gd name="csX11" fmla="*/ 0 w 3474720"/>
              <a:gd name="csY11" fmla="*/ 18288 h 18288"/>
              <a:gd name="csX12" fmla="*/ 0 w 347472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2" name="Picture 111">
            <a:extLst>
              <a:ext uri="{FF2B5EF4-FFF2-40B4-BE49-F238E27FC236}">
                <a16:creationId xmlns:a16="http://schemas.microsoft.com/office/drawing/2014/main" id="{6F3FAACA-AA1A-C432-0DA2-CE1ED99BDDB1}"/>
              </a:ext>
            </a:extLst>
          </p:cNvPr>
          <p:cNvPicPr>
            <a:picLocks noChangeAspect="1"/>
          </p:cNvPicPr>
          <p:nvPr/>
        </p:nvPicPr>
        <p:blipFill>
          <a:blip r:embed="rId3"/>
          <a:srcRect l="12038" r="12038"/>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
        <p:nvSpPr>
          <p:cNvPr id="104" name="Google Shape;104;p15"/>
          <p:cNvSpPr txBox="1"/>
          <p:nvPr/>
        </p:nvSpPr>
        <p:spPr>
          <a:xfrm>
            <a:off x="724658" y="3672883"/>
            <a:ext cx="4572000" cy="446276"/>
          </a:xfrm>
          <a:prstGeom prst="rect">
            <a:avLst/>
          </a:prstGeom>
          <a:noFill/>
          <a:ln>
            <a:noFill/>
          </a:ln>
        </p:spPr>
        <p:txBody>
          <a:bodyPr spcFirstLastPara="1" wrap="square" lIns="66675" tIns="0" rIns="0" bIns="0" anchor="t" anchorCtr="0">
            <a:spAutoFit/>
          </a:bodyPr>
          <a:lstStyle/>
          <a:p>
            <a:pPr marL="0" marR="0" lvl="0" indent="0" algn="l" rtl="0">
              <a:lnSpc>
                <a:spcPct val="160000"/>
              </a:lnSpc>
              <a:spcBef>
                <a:spcPts val="0"/>
              </a:spcBef>
              <a:spcAft>
                <a:spcPts val="600"/>
              </a:spcAft>
              <a:buNone/>
            </a:pPr>
            <a:r>
              <a:rPr lang="en-US" sz="1500" dirty="0">
                <a:solidFill>
                  <a:srgbClr val="4A4A4A"/>
                </a:solidFill>
                <a:ea typeface="Arimo"/>
                <a:cs typeface="Arimo"/>
                <a:sym typeface="Arimo"/>
              </a:rPr>
              <a:t>2. U</a:t>
            </a:r>
            <a:r>
              <a:rPr lang="en-US" sz="1500" b="0" i="0" u="none" strike="noStrike" cap="none" dirty="0">
                <a:solidFill>
                  <a:srgbClr val="4A4A4A"/>
                </a:solidFill>
                <a:ea typeface="Arimo"/>
                <a:cs typeface="Arimo"/>
                <a:sym typeface="Arimo"/>
              </a:rPr>
              <a:t>npredictable ink bleed.</a:t>
            </a:r>
            <a:endParaRPr lang="en-US" dirty="0"/>
          </a:p>
        </p:txBody>
      </p:sp>
      <p:sp>
        <p:nvSpPr>
          <p:cNvPr id="106" name="Google Shape;106;p15"/>
          <p:cNvSpPr txBox="1"/>
          <p:nvPr/>
        </p:nvSpPr>
        <p:spPr>
          <a:xfrm>
            <a:off x="709612" y="4639342"/>
            <a:ext cx="4572001" cy="1184940"/>
          </a:xfrm>
          <a:prstGeom prst="rect">
            <a:avLst/>
          </a:prstGeom>
          <a:noFill/>
          <a:ln>
            <a:noFill/>
          </a:ln>
        </p:spPr>
        <p:txBody>
          <a:bodyPr spcFirstLastPara="1" wrap="square" lIns="66675" tIns="0" rIns="0" bIns="0" anchor="t" anchorCtr="0">
            <a:spAutoFit/>
          </a:bodyPr>
          <a:lstStyle/>
          <a:p>
            <a:pPr marL="0" marR="0" lvl="0" indent="0" algn="l" rtl="0">
              <a:lnSpc>
                <a:spcPct val="160000"/>
              </a:lnSpc>
              <a:spcBef>
                <a:spcPts val="0"/>
              </a:spcBef>
              <a:spcAft>
                <a:spcPts val="600"/>
              </a:spcAft>
              <a:buNone/>
            </a:pPr>
            <a:r>
              <a:rPr lang="en-GB" sz="1500" b="0" i="0" u="none" strike="noStrike" cap="none" dirty="0">
                <a:solidFill>
                  <a:srgbClr val="4A4A4A"/>
                </a:solidFill>
                <a:ea typeface="Arimo"/>
                <a:cs typeface="Arimo"/>
                <a:sym typeface="Arimo"/>
              </a:rPr>
              <a:t>3. Traditional Optical Character Recognition (OCR) models fail on cursive historical writing because they are strictly trained on isolated modern characters.</a:t>
            </a:r>
            <a:endParaRPr lang="en-GB" dirty="0"/>
          </a:p>
        </p:txBody>
      </p:sp>
      <p:sp>
        <p:nvSpPr>
          <p:cNvPr id="3" name="TextBox 2">
            <a:extLst>
              <a:ext uri="{FF2B5EF4-FFF2-40B4-BE49-F238E27FC236}">
                <a16:creationId xmlns:a16="http://schemas.microsoft.com/office/drawing/2014/main" id="{754458B7-658A-5106-D5D5-E479ADF9D4FC}"/>
              </a:ext>
            </a:extLst>
          </p:cNvPr>
          <p:cNvSpPr txBox="1"/>
          <p:nvPr/>
        </p:nvSpPr>
        <p:spPr>
          <a:xfrm>
            <a:off x="709612" y="1626188"/>
            <a:ext cx="4587045" cy="1093569"/>
          </a:xfrm>
          <a:prstGeom prst="rect">
            <a:avLst/>
          </a:prstGeom>
          <a:noFill/>
        </p:spPr>
        <p:txBody>
          <a:bodyPr wrap="square">
            <a:spAutoFit/>
          </a:bodyPr>
          <a:lstStyle/>
          <a:p>
            <a:pPr>
              <a:lnSpc>
                <a:spcPct val="150000"/>
              </a:lnSpc>
              <a:spcAft>
                <a:spcPts val="600"/>
              </a:spcAft>
            </a:pPr>
            <a:r>
              <a:rPr lang="en-US" sz="1500" b="1" dirty="0">
                <a:solidFill>
                  <a:srgbClr val="4A4A4A"/>
                </a:solidFill>
                <a:ea typeface="Arimo"/>
                <a:cs typeface="Times New Roman" panose="02020603050405020304" pitchFamily="18" charset="0"/>
                <a:sym typeface="Arimo"/>
              </a:rPr>
              <a:t>The Traditional Method of digitizing historical handwritten documents involve numerous challenges including </a:t>
            </a:r>
            <a:r>
              <a:rPr lang="en-US" sz="1500" dirty="0">
                <a:solidFill>
                  <a:srgbClr val="4A4A4A"/>
                </a:solidFill>
                <a:ea typeface="Arimo"/>
                <a:cs typeface="Times New Roman" panose="02020603050405020304" pitchFamily="18" charset="0"/>
                <a:sym typeface="Arimo"/>
              </a:rPr>
              <a:t>: </a:t>
            </a:r>
            <a:endParaRPr lang="en-US" sz="1500" dirty="0">
              <a:cs typeface="Times New Roman" panose="02020603050405020304" pitchFamily="18" charset="0"/>
            </a:endParaRPr>
          </a:p>
        </p:txBody>
      </p:sp>
      <p:sp>
        <p:nvSpPr>
          <p:cNvPr id="5" name="Google Shape;104;p15">
            <a:extLst>
              <a:ext uri="{FF2B5EF4-FFF2-40B4-BE49-F238E27FC236}">
                <a16:creationId xmlns:a16="http://schemas.microsoft.com/office/drawing/2014/main" id="{6D14F9A6-64E2-C70F-6827-491F2BAA94BA}"/>
              </a:ext>
            </a:extLst>
          </p:cNvPr>
          <p:cNvSpPr txBox="1"/>
          <p:nvPr/>
        </p:nvSpPr>
        <p:spPr>
          <a:xfrm>
            <a:off x="709613" y="2826146"/>
            <a:ext cx="4810127" cy="815608"/>
          </a:xfrm>
          <a:prstGeom prst="rect">
            <a:avLst/>
          </a:prstGeom>
          <a:noFill/>
          <a:ln>
            <a:noFill/>
          </a:ln>
        </p:spPr>
        <p:txBody>
          <a:bodyPr spcFirstLastPara="1" wrap="square" lIns="66675" tIns="0" rIns="0" bIns="0" anchor="t" anchorCtr="0">
            <a:spAutoFit/>
          </a:bodyPr>
          <a:lstStyle/>
          <a:p>
            <a:pPr marL="0" marR="0" lvl="0" indent="0" algn="l" rtl="0">
              <a:lnSpc>
                <a:spcPct val="160000"/>
              </a:lnSpc>
              <a:spcBef>
                <a:spcPts val="0"/>
              </a:spcBef>
              <a:spcAft>
                <a:spcPts val="600"/>
              </a:spcAft>
              <a:buNone/>
            </a:pPr>
            <a:r>
              <a:rPr lang="en-GB" sz="1500" dirty="0">
                <a:solidFill>
                  <a:srgbClr val="4A4A4A"/>
                </a:solidFill>
                <a:ea typeface="Arimo"/>
                <a:cs typeface="Arimo"/>
                <a:sym typeface="Arimo"/>
              </a:rPr>
              <a:t>1. </a:t>
            </a:r>
            <a:r>
              <a:rPr lang="en-GB" sz="1500" dirty="0">
                <a:solidFill>
                  <a:srgbClr val="4A4A4A"/>
                </a:solidFill>
                <a:ea typeface="Arimo"/>
                <a:cs typeface="Times New Roman" panose="02020603050405020304" pitchFamily="18" charset="0"/>
                <a:sym typeface="Arimo"/>
              </a:rPr>
              <a:t>S</a:t>
            </a:r>
            <a:r>
              <a:rPr lang="en-GB" sz="1500" b="0" i="0" u="none" strike="noStrike" cap="none" dirty="0">
                <a:solidFill>
                  <a:srgbClr val="4A4A4A"/>
                </a:solidFill>
                <a:ea typeface="Arimo"/>
                <a:cs typeface="Times New Roman" panose="02020603050405020304" pitchFamily="18" charset="0"/>
                <a:sym typeface="Arimo"/>
              </a:rPr>
              <a:t>truggling to transcribe vast collections of historical handwritten documents.  </a:t>
            </a:r>
            <a:endParaRPr lang="en-GB" dirty="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pic>
        <p:nvPicPr>
          <p:cNvPr id="115" name="Google Shape;115;p16" descr="image.png"/>
          <p:cNvPicPr preferRelativeResize="0"/>
          <p:nvPr/>
        </p:nvPicPr>
        <p:blipFill rotWithShape="1">
          <a:blip r:embed="rId3">
            <a:alphaModFix/>
            <a:extLst>
              <a:ext uri="{BEBA8EAE-BF5A-486C-A8C5-ECC9F3942E4B}">
                <a14:imgProps xmlns:a14="http://schemas.microsoft.com/office/drawing/2010/main">
                  <a14:imgLayer r:embed="rId4">
                    <a14:imgEffect>
                      <a14:brightnessContrast bright="20000" contrast="-40000"/>
                    </a14:imgEffect>
                  </a14:imgLayer>
                </a14:imgProps>
              </a:ext>
            </a:extLst>
          </a:blip>
          <a:srcRect/>
          <a:stretch/>
        </p:blipFill>
        <p:spPr>
          <a:xfrm>
            <a:off x="571500" y="2005012"/>
            <a:ext cx="3429000" cy="3705225"/>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116" name="Google Shape;116;p16" descr="image.png"/>
          <p:cNvPicPr preferRelativeResize="0"/>
          <p:nvPr/>
        </p:nvPicPr>
        <p:blipFill rotWithShape="1">
          <a:blip r:embed="rId5">
            <a:alphaModFix/>
            <a:extLst>
              <a:ext uri="{BEBA8EAE-BF5A-486C-A8C5-ECC9F3942E4B}">
                <a14:imgProps xmlns:a14="http://schemas.microsoft.com/office/drawing/2010/main">
                  <a14:imgLayer r:embed="rId6">
                    <a14:imgEffect>
                      <a14:brightnessContrast bright="40000" contrast="-40000"/>
                    </a14:imgEffect>
                  </a14:imgLayer>
                </a14:imgProps>
              </a:ext>
            </a:extLst>
          </a:blip>
          <a:srcRect/>
          <a:stretch/>
        </p:blipFill>
        <p:spPr>
          <a:xfrm>
            <a:off x="4381500" y="2005012"/>
            <a:ext cx="3429000" cy="3705225"/>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117" name="Google Shape;117;p16" descr="image.png"/>
          <p:cNvPicPr preferRelativeResize="0"/>
          <p:nvPr/>
        </p:nvPicPr>
        <p:blipFill rotWithShape="1">
          <a:blip r:embed="rId7">
            <a:alphaModFix/>
            <a:extLst>
              <a:ext uri="{BEBA8EAE-BF5A-486C-A8C5-ECC9F3942E4B}">
                <a14:imgProps xmlns:a14="http://schemas.microsoft.com/office/drawing/2010/main">
                  <a14:imgLayer r:embed="rId8">
                    <a14:imgEffect>
                      <a14:brightnessContrast bright="40000" contrast="-40000"/>
                    </a14:imgEffect>
                  </a14:imgLayer>
                </a14:imgProps>
              </a:ext>
            </a:extLst>
          </a:blip>
          <a:srcRect/>
          <a:stretch/>
        </p:blipFill>
        <p:spPr>
          <a:xfrm>
            <a:off x="8191500" y="2005012"/>
            <a:ext cx="3429000" cy="3705225"/>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118" name="Google Shape;118;p16"/>
          <p:cNvSpPr txBox="1"/>
          <p:nvPr/>
        </p:nvSpPr>
        <p:spPr>
          <a:xfrm>
            <a:off x="2020966" y="3205162"/>
            <a:ext cx="530066" cy="32316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dirty="0">
                <a:solidFill>
                  <a:schemeClr val="accent2"/>
                </a:solidFill>
                <a:latin typeface="Arimo"/>
                <a:ea typeface="Arimo"/>
                <a:cs typeface="Arimo"/>
                <a:sym typeface="Arimo"/>
              </a:rPr>
              <a:t>Aim</a:t>
            </a:r>
            <a:endParaRPr dirty="0">
              <a:solidFill>
                <a:schemeClr val="accent2"/>
              </a:solidFill>
            </a:endParaRPr>
          </a:p>
        </p:txBody>
      </p:sp>
      <p:sp>
        <p:nvSpPr>
          <p:cNvPr id="119" name="Google Shape;119;p16"/>
          <p:cNvSpPr txBox="1"/>
          <p:nvPr/>
        </p:nvSpPr>
        <p:spPr>
          <a:xfrm>
            <a:off x="866775" y="3652837"/>
            <a:ext cx="2838450" cy="15240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4A4A4A"/>
                </a:solidFill>
                <a:latin typeface="Arimo"/>
                <a:ea typeface="Arimo"/>
                <a:cs typeface="Arimo"/>
                <a:sym typeface="Arimo"/>
              </a:rPr>
              <a:t>Develop a robust, machine learning-based OCR system capable of recognizing and transcribing full lines of historical handwritten text.</a:t>
            </a:r>
            <a:endParaRPr/>
          </a:p>
        </p:txBody>
      </p:sp>
      <p:sp>
        <p:nvSpPr>
          <p:cNvPr id="120" name="Google Shape;120;p16"/>
          <p:cNvSpPr txBox="1"/>
          <p:nvPr/>
        </p:nvSpPr>
        <p:spPr>
          <a:xfrm>
            <a:off x="5670946" y="3205162"/>
            <a:ext cx="850106" cy="32316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dirty="0">
                <a:solidFill>
                  <a:schemeClr val="accent2"/>
                </a:solidFill>
                <a:latin typeface="Arimo"/>
                <a:ea typeface="Arimo"/>
                <a:cs typeface="Arimo"/>
                <a:sym typeface="Arimo"/>
              </a:rPr>
              <a:t>Scope</a:t>
            </a:r>
            <a:endParaRPr dirty="0">
              <a:solidFill>
                <a:schemeClr val="accent2"/>
              </a:solidFill>
            </a:endParaRPr>
          </a:p>
        </p:txBody>
      </p:sp>
      <p:sp>
        <p:nvSpPr>
          <p:cNvPr id="121" name="Google Shape;121;p16"/>
          <p:cNvSpPr txBox="1"/>
          <p:nvPr/>
        </p:nvSpPr>
        <p:spPr>
          <a:xfrm>
            <a:off x="4676775" y="3652837"/>
            <a:ext cx="2838450" cy="15240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4A4A4A"/>
                </a:solidFill>
                <a:latin typeface="Arimo"/>
                <a:ea typeface="Arimo"/>
                <a:cs typeface="Arimo"/>
                <a:sym typeface="Arimo"/>
              </a:rPr>
              <a:t>Focused entirely on Computer Vision and Cultural Heritage. Strictly based on line-level transcription using the Washington Database.</a:t>
            </a:r>
            <a:endParaRPr/>
          </a:p>
        </p:txBody>
      </p:sp>
      <p:sp>
        <p:nvSpPr>
          <p:cNvPr id="122" name="Google Shape;122;p16"/>
          <p:cNvSpPr txBox="1"/>
          <p:nvPr/>
        </p:nvSpPr>
        <p:spPr>
          <a:xfrm>
            <a:off x="9185910" y="3205162"/>
            <a:ext cx="1440180" cy="32316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dirty="0">
                <a:solidFill>
                  <a:schemeClr val="accent2"/>
                </a:solidFill>
                <a:latin typeface="Arimo"/>
                <a:ea typeface="Arimo"/>
                <a:cs typeface="Arimo"/>
                <a:sym typeface="Arimo"/>
              </a:rPr>
              <a:t>Objectives</a:t>
            </a:r>
            <a:endParaRPr dirty="0">
              <a:solidFill>
                <a:schemeClr val="accent2"/>
              </a:solidFill>
            </a:endParaRPr>
          </a:p>
        </p:txBody>
      </p:sp>
      <p:sp>
        <p:nvSpPr>
          <p:cNvPr id="123" name="Google Shape;123;p16"/>
          <p:cNvSpPr txBox="1"/>
          <p:nvPr/>
        </p:nvSpPr>
        <p:spPr>
          <a:xfrm>
            <a:off x="8486775" y="3652837"/>
            <a:ext cx="2838450" cy="15240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4A4A4A"/>
                </a:solidFill>
                <a:latin typeface="Arimo"/>
                <a:ea typeface="Arimo"/>
                <a:cs typeface="Arimo"/>
                <a:sym typeface="Arimo"/>
              </a:rPr>
              <a:t>Build a CRNN to process sequence data, implement CTC Loss to map visual features without bounding boxes, and evaluate transcription accuracy.</a:t>
            </a:r>
            <a:endParaRPr/>
          </a:p>
        </p:txBody>
      </p:sp>
      <p:pic>
        <p:nvPicPr>
          <p:cNvPr id="124" name="Google Shape;124;p16" descr="image.png"/>
          <p:cNvPicPr preferRelativeResize="0"/>
          <p:nvPr/>
        </p:nvPicPr>
        <p:blipFill rotWithShape="1">
          <a:blip r:embed="rId9">
            <a:alphaModFix/>
            <a:extLst>
              <a:ext uri="{BEBA8EAE-BF5A-486C-A8C5-ECC9F3942E4B}">
                <a14:imgProps xmlns:a14="http://schemas.microsoft.com/office/drawing/2010/main">
                  <a14:imgLayer r:embed="rId10">
                    <a14:imgEffect>
                      <a14:brightnessContrast bright="20000" contrast="40000"/>
                    </a14:imgEffect>
                  </a14:imgLayer>
                </a14:imgProps>
              </a:ext>
            </a:extLst>
          </a:blip>
          <a:srcRect/>
          <a:stretch/>
        </p:blipFill>
        <p:spPr>
          <a:xfrm>
            <a:off x="2038350" y="2424112"/>
            <a:ext cx="495300" cy="495300"/>
          </a:xfrm>
          <a:prstGeom prst="rect">
            <a:avLst/>
          </a:prstGeom>
          <a:noFill/>
          <a:ln>
            <a:noFill/>
          </a:ln>
        </p:spPr>
      </p:pic>
      <p:pic>
        <p:nvPicPr>
          <p:cNvPr id="125" name="Google Shape;125;p16" descr="image.png"/>
          <p:cNvPicPr preferRelativeResize="0"/>
          <p:nvPr/>
        </p:nvPicPr>
        <p:blipFill rotWithShape="1">
          <a:blip r:embed="rId11">
            <a:alphaModFix/>
            <a:extLst>
              <a:ext uri="{BEBA8EAE-BF5A-486C-A8C5-ECC9F3942E4B}">
                <a14:imgProps xmlns:a14="http://schemas.microsoft.com/office/drawing/2010/main">
                  <a14:imgLayer r:embed="rId12">
                    <a14:imgEffect>
                      <a14:brightnessContrast bright="20000" contrast="40000"/>
                    </a14:imgEffect>
                  </a14:imgLayer>
                </a14:imgProps>
              </a:ext>
            </a:extLst>
          </a:blip>
          <a:srcRect/>
          <a:stretch/>
        </p:blipFill>
        <p:spPr>
          <a:xfrm>
            <a:off x="5848350" y="2424112"/>
            <a:ext cx="495300" cy="495300"/>
          </a:xfrm>
          <a:prstGeom prst="rect">
            <a:avLst/>
          </a:prstGeom>
          <a:noFill/>
          <a:ln>
            <a:noFill/>
          </a:ln>
        </p:spPr>
      </p:pic>
      <p:pic>
        <p:nvPicPr>
          <p:cNvPr id="126" name="Google Shape;126;p16" descr="image.png"/>
          <p:cNvPicPr preferRelativeResize="0"/>
          <p:nvPr/>
        </p:nvPicPr>
        <p:blipFill rotWithShape="1">
          <a:blip r:embed="rId13">
            <a:alphaModFix/>
            <a:extLst>
              <a:ext uri="{BEBA8EAE-BF5A-486C-A8C5-ECC9F3942E4B}">
                <a14:imgProps xmlns:a14="http://schemas.microsoft.com/office/drawing/2010/main">
                  <a14:imgLayer r:embed="rId14">
                    <a14:imgEffect>
                      <a14:brightnessContrast bright="20000" contrast="40000"/>
                    </a14:imgEffect>
                  </a14:imgLayer>
                </a14:imgProps>
              </a:ext>
            </a:extLst>
          </a:blip>
          <a:srcRect/>
          <a:stretch/>
        </p:blipFill>
        <p:spPr>
          <a:xfrm>
            <a:off x="9658350" y="2424112"/>
            <a:ext cx="495300" cy="495300"/>
          </a:xfrm>
          <a:prstGeom prst="rect">
            <a:avLst/>
          </a:prstGeom>
          <a:noFill/>
          <a:ln>
            <a:noFill/>
          </a:ln>
        </p:spPr>
      </p:pic>
      <p:sp>
        <p:nvSpPr>
          <p:cNvPr id="127" name="Google Shape;127;p16"/>
          <p:cNvSpPr txBox="1"/>
          <p:nvPr/>
        </p:nvSpPr>
        <p:spPr>
          <a:xfrm>
            <a:off x="3758802" y="1092368"/>
            <a:ext cx="5524500" cy="50783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dirty="0">
                <a:solidFill>
                  <a:schemeClr val="accent2"/>
                </a:solidFill>
                <a:latin typeface="Arimo"/>
                <a:ea typeface="Arimo"/>
                <a:cs typeface="Arimo"/>
                <a:sym typeface="Arimo"/>
              </a:rPr>
              <a:t>Aim, Objectives &amp; Scope</a:t>
            </a:r>
            <a:endParaRPr dirty="0">
              <a:solidFill>
                <a:schemeClr val="accent2"/>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31"/>
        <p:cNvGrpSpPr/>
        <p:nvPr/>
      </p:nvGrpSpPr>
      <p:grpSpPr>
        <a:xfrm>
          <a:off x="0" y="0"/>
          <a:ext cx="0" cy="0"/>
          <a:chOff x="0" y="0"/>
          <a:chExt cx="0" cy="0"/>
        </a:xfrm>
      </p:grpSpPr>
      <p:sp useBgFill="1">
        <p:nvSpPr>
          <p:cNvPr id="139" name="Rectangle 138">
            <a:extLst>
              <a:ext uri="{FF2B5EF4-FFF2-40B4-BE49-F238E27FC236}">
                <a16:creationId xmlns:a16="http://schemas.microsoft.com/office/drawing/2014/main" id="{D278ADA9-6383-4BDD-80D2-8899A40268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 name="Rectangle 140">
            <a:extLst>
              <a:ext uri="{FF2B5EF4-FFF2-40B4-BE49-F238E27FC236}">
                <a16:creationId xmlns:a16="http://schemas.microsoft.com/office/drawing/2014/main" id="{484B7147-B0F6-40ED-B5A2-FF72BC8198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3" name="Rectangle 142">
            <a:extLst>
              <a:ext uri="{FF2B5EF4-FFF2-40B4-BE49-F238E27FC236}">
                <a16:creationId xmlns:a16="http://schemas.microsoft.com/office/drawing/2014/main" id="{B36D2DE0-0628-4A9A-A59D-7BA8B5EB30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 name="Oval 144">
            <a:extLst>
              <a:ext uri="{FF2B5EF4-FFF2-40B4-BE49-F238E27FC236}">
                <a16:creationId xmlns:a16="http://schemas.microsoft.com/office/drawing/2014/main" id="{48E405C9-94BE-41DA-928C-DEC9A8550E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15929" y="148929"/>
            <a:ext cx="6560142" cy="656014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33" name="Google Shape;133;p17"/>
          <p:cNvSpPr txBox="1"/>
          <p:nvPr/>
        </p:nvSpPr>
        <p:spPr>
          <a:xfrm>
            <a:off x="3315031" y="1380754"/>
            <a:ext cx="5561938" cy="2513516"/>
          </a:xfrm>
          <a:prstGeom prst="rect">
            <a:avLst/>
          </a:prstGeom>
        </p:spPr>
        <p:txBody>
          <a:bodyPr spcFirstLastPara="1" vert="horz" lIns="91440" tIns="45720" rIns="91440" bIns="45720" rtlCol="0" anchor="b" anchorCtr="0">
            <a:normAutofit/>
          </a:bodyPr>
          <a:lstStyle/>
          <a:p>
            <a:pPr marL="0" marR="0" lvl="0" indent="0" algn="ctr" defTabSz="914400">
              <a:lnSpc>
                <a:spcPct val="90000"/>
              </a:lnSpc>
              <a:spcBef>
                <a:spcPct val="0"/>
              </a:spcBef>
              <a:spcAft>
                <a:spcPts val="600"/>
              </a:spcAft>
            </a:pPr>
            <a:r>
              <a:rPr lang="en-US" sz="6000" b="1" i="0" u="none" strike="noStrike" kern="1200" cap="none" dirty="0">
                <a:solidFill>
                  <a:schemeClr val="accent2"/>
                </a:solidFill>
                <a:latin typeface="+mj-lt"/>
                <a:ea typeface="+mj-ea"/>
                <a:cs typeface="+mj-cs"/>
                <a:sym typeface="Arimo"/>
              </a:rPr>
              <a:t>Dataset Overview</a:t>
            </a:r>
            <a:endParaRPr lang="en-US" sz="6000" kern="1200" dirty="0">
              <a:solidFill>
                <a:schemeClr val="accent2"/>
              </a:solidFill>
              <a:latin typeface="+mj-lt"/>
              <a:ea typeface="+mj-ea"/>
              <a:cs typeface="+mj-cs"/>
            </a:endParaRPr>
          </a:p>
        </p:txBody>
      </p:sp>
      <p:sp>
        <p:nvSpPr>
          <p:cNvPr id="134" name="Google Shape;134;p17"/>
          <p:cNvSpPr txBox="1"/>
          <p:nvPr/>
        </p:nvSpPr>
        <p:spPr>
          <a:xfrm>
            <a:off x="3315031" y="4076802"/>
            <a:ext cx="5561938" cy="1534587"/>
          </a:xfrm>
          <a:prstGeom prst="rect">
            <a:avLst/>
          </a:prstGeom>
        </p:spPr>
        <p:txBody>
          <a:bodyPr spcFirstLastPara="1" vert="horz" lIns="91440" tIns="45720" rIns="91440" bIns="45720" rtlCol="0" anchorCtr="0">
            <a:normAutofit/>
          </a:bodyPr>
          <a:lstStyle/>
          <a:p>
            <a:pPr marR="0" lvl="0" algn="ctr" defTabSz="914400">
              <a:lnSpc>
                <a:spcPct val="90000"/>
              </a:lnSpc>
              <a:spcBef>
                <a:spcPts val="1000"/>
              </a:spcBef>
              <a:spcAft>
                <a:spcPts val="0"/>
              </a:spcAft>
            </a:pPr>
            <a:r>
              <a:rPr lang="en-US" sz="2400" b="0" i="0" u="none" strike="noStrike" kern="1200" cap="none">
                <a:solidFill>
                  <a:schemeClr val="tx1"/>
                </a:solidFill>
                <a:latin typeface="+mn-lt"/>
                <a:ea typeface="+mn-ea"/>
                <a:cs typeface="+mn-cs"/>
                <a:sym typeface="Azeret Mono"/>
              </a:rPr>
              <a:t>The Washington Database</a:t>
            </a:r>
            <a:endParaRPr lang="en-US" sz="2400" kern="1200">
              <a:solidFill>
                <a:schemeClr val="tx1"/>
              </a:solidFill>
              <a:latin typeface="+mn-lt"/>
              <a:ea typeface="+mn-ea"/>
              <a:cs typeface="+mn-cs"/>
            </a:endParaRPr>
          </a:p>
        </p:txBody>
      </p:sp>
      <p:sp>
        <p:nvSpPr>
          <p:cNvPr id="147" name="Arc 146">
            <a:extLst>
              <a:ext uri="{FF2B5EF4-FFF2-40B4-BE49-F238E27FC236}">
                <a16:creationId xmlns:a16="http://schemas.microsoft.com/office/drawing/2014/main" id="{D2091A72-D5BB-42AC-8FD3-F7747D9086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9222429" flipV="1">
            <a:off x="2494119" y="6170"/>
            <a:ext cx="6816262" cy="6816262"/>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54" name="Oval 153">
            <a:extLst>
              <a:ext uri="{FF2B5EF4-FFF2-40B4-BE49-F238E27FC236}">
                <a16:creationId xmlns:a16="http://schemas.microsoft.com/office/drawing/2014/main" id="{6ED12BFC-A737-46AF-8411-481112D54B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00995" y="5310973"/>
            <a:ext cx="705948" cy="686798"/>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pic>
        <p:nvPicPr>
          <p:cNvPr id="148" name="Google Shape;148;p19" descr="image.png"/>
          <p:cNvPicPr preferRelativeResize="0"/>
          <p:nvPr/>
        </p:nvPicPr>
        <p:blipFill rotWithShape="1">
          <a:blip r:embed="rId3">
            <a:alphaModFix/>
            <a:extLst>
              <a:ext uri="{BEBA8EAE-BF5A-486C-A8C5-ECC9F3942E4B}">
                <a14:imgProps xmlns:a14="http://schemas.microsoft.com/office/drawing/2010/main">
                  <a14:imgLayer r:embed="rId4">
                    <a14:imgEffect>
                      <a14:brightnessContrast bright="20000" contrast="-40000"/>
                    </a14:imgEffect>
                  </a14:imgLayer>
                </a14:imgProps>
              </a:ext>
            </a:extLst>
          </a:blip>
          <a:srcRect/>
          <a:stretch/>
        </p:blipFill>
        <p:spPr>
          <a:xfrm>
            <a:off x="571500" y="2233612"/>
            <a:ext cx="5286375" cy="3248025"/>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149" name="Google Shape;149;p19" descr="image.png"/>
          <p:cNvPicPr preferRelativeResize="0"/>
          <p:nvPr/>
        </p:nvPicPr>
        <p:blipFill rotWithShape="1">
          <a:blip r:embed="rId5">
            <a:alphaModFix/>
            <a:extLst>
              <a:ext uri="{BEBA8EAE-BF5A-486C-A8C5-ECC9F3942E4B}">
                <a14:imgProps xmlns:a14="http://schemas.microsoft.com/office/drawing/2010/main">
                  <a14:imgLayer r:embed="rId6">
                    <a14:imgEffect>
                      <a14:brightnessContrast bright="40000" contrast="-40000"/>
                    </a14:imgEffect>
                  </a14:imgLayer>
                </a14:imgProps>
              </a:ext>
            </a:extLst>
          </a:blip>
          <a:srcRect/>
          <a:stretch/>
        </p:blipFill>
        <p:spPr>
          <a:xfrm>
            <a:off x="6334125" y="2233612"/>
            <a:ext cx="5286375" cy="3248025"/>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150" name="Google Shape;150;p19"/>
          <p:cNvSpPr txBox="1"/>
          <p:nvPr/>
        </p:nvSpPr>
        <p:spPr>
          <a:xfrm>
            <a:off x="962025" y="2624137"/>
            <a:ext cx="4730591" cy="3231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dirty="0">
                <a:solidFill>
                  <a:schemeClr val="accent2"/>
                </a:solidFill>
                <a:latin typeface="Arimo"/>
                <a:ea typeface="Arimo"/>
                <a:cs typeface="Arimo"/>
                <a:sym typeface="Arimo"/>
              </a:rPr>
              <a:t>Limitations of MNIST / EMNIST</a:t>
            </a:r>
            <a:endParaRPr dirty="0">
              <a:solidFill>
                <a:schemeClr val="accent2"/>
              </a:solidFill>
            </a:endParaRPr>
          </a:p>
        </p:txBody>
      </p:sp>
      <p:sp>
        <p:nvSpPr>
          <p:cNvPr id="151" name="Google Shape;151;p19"/>
          <p:cNvSpPr txBox="1"/>
          <p:nvPr/>
        </p:nvSpPr>
        <p:spPr>
          <a:xfrm>
            <a:off x="962025" y="3119437"/>
            <a:ext cx="4505325" cy="1828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4A4A4A"/>
                </a:solidFill>
                <a:latin typeface="Arimo"/>
                <a:ea typeface="Arimo"/>
                <a:cs typeface="Arimo"/>
                <a:sym typeface="Arimo"/>
              </a:rPr>
              <a:t>While simpler datasets provide a solid baseline for isolated digits or uppercase letters, they completely fail to reflect the reality of connected, historical handwriting. Training models on these datasets will not capture the continuous flow, ligatures, and varying spacing of real cursive scripts.</a:t>
            </a:r>
            <a:endParaRPr/>
          </a:p>
        </p:txBody>
      </p:sp>
      <p:sp>
        <p:nvSpPr>
          <p:cNvPr id="152" name="Google Shape;152;p19"/>
          <p:cNvSpPr txBox="1"/>
          <p:nvPr/>
        </p:nvSpPr>
        <p:spPr>
          <a:xfrm>
            <a:off x="6724650" y="2624137"/>
            <a:ext cx="4730591" cy="3231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dirty="0">
                <a:solidFill>
                  <a:schemeClr val="accent2"/>
                </a:solidFill>
                <a:latin typeface="Arimo"/>
                <a:ea typeface="Arimo"/>
                <a:cs typeface="Arimo"/>
                <a:sym typeface="Arimo"/>
              </a:rPr>
              <a:t>Advantages of Washington DB</a:t>
            </a:r>
            <a:endParaRPr dirty="0">
              <a:solidFill>
                <a:schemeClr val="accent2"/>
              </a:solidFill>
            </a:endParaRPr>
          </a:p>
        </p:txBody>
      </p:sp>
      <p:sp>
        <p:nvSpPr>
          <p:cNvPr id="153" name="Google Shape;153;p19"/>
          <p:cNvSpPr txBox="1"/>
          <p:nvPr/>
        </p:nvSpPr>
        <p:spPr>
          <a:xfrm>
            <a:off x="6724650" y="3119437"/>
            <a:ext cx="4505325" cy="221599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dirty="0">
                <a:solidFill>
                  <a:srgbClr val="4A4A4A"/>
                </a:solidFill>
                <a:latin typeface="Arimo"/>
                <a:ea typeface="Arimo"/>
                <a:cs typeface="Arimo"/>
                <a:sym typeface="Arimo"/>
              </a:rPr>
              <a:t>This dataset perfectly encapsulates the core domain constraint. By leveraging the pre-binarized text lines, </a:t>
            </a:r>
            <a:r>
              <a:rPr lang="en-US" sz="1500" dirty="0">
                <a:solidFill>
                  <a:srgbClr val="4A4A4A"/>
                </a:solidFill>
                <a:latin typeface="Arimo"/>
                <a:ea typeface="Arimo"/>
                <a:cs typeface="Arimo"/>
                <a:sym typeface="Arimo"/>
              </a:rPr>
              <a:t>reduce</a:t>
            </a:r>
            <a:r>
              <a:rPr lang="en-US" sz="1500" b="0" i="0" u="none" strike="noStrike" cap="none" dirty="0">
                <a:solidFill>
                  <a:srgbClr val="4A4A4A"/>
                </a:solidFill>
                <a:latin typeface="Arimo"/>
                <a:ea typeface="Arimo"/>
                <a:cs typeface="Arimo"/>
                <a:sym typeface="Arimo"/>
              </a:rPr>
              <a:t> tedious image cleaning and focus our analytical resources entirely on designing the complex CRNN architecture required for authentic, line-level sequence recognition.</a:t>
            </a:r>
            <a:endParaRPr dirty="0"/>
          </a:p>
        </p:txBody>
      </p:sp>
      <p:sp>
        <p:nvSpPr>
          <p:cNvPr id="154" name="Google Shape;154;p19"/>
          <p:cNvSpPr txBox="1"/>
          <p:nvPr/>
        </p:nvSpPr>
        <p:spPr>
          <a:xfrm>
            <a:off x="3523247" y="762550"/>
            <a:ext cx="6807867" cy="92333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6000" b="1" i="0" u="none" strike="noStrike" cap="none" dirty="0">
                <a:solidFill>
                  <a:schemeClr val="accent2"/>
                </a:solidFill>
                <a:latin typeface="+mj-lt"/>
                <a:ea typeface="Arimo"/>
                <a:cs typeface="Arimo"/>
                <a:sym typeface="Arimo"/>
              </a:rPr>
              <a:t>Dataset Selection</a:t>
            </a:r>
            <a:endParaRPr sz="6000" b="1" dirty="0">
              <a:solidFill>
                <a:schemeClr val="accent2"/>
              </a:solidFill>
              <a:latin typeface="+mj-l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18"/>
          <p:cNvSpPr txBox="1"/>
          <p:nvPr/>
        </p:nvSpPr>
        <p:spPr>
          <a:xfrm>
            <a:off x="571500" y="400050"/>
            <a:ext cx="5550693" cy="92333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6000" b="1" i="0" u="none" strike="noStrike" cap="none" dirty="0">
                <a:solidFill>
                  <a:schemeClr val="accent2"/>
                </a:solidFill>
                <a:latin typeface="+mj-lt"/>
                <a:ea typeface="Arimo"/>
                <a:cs typeface="Arimo"/>
                <a:sym typeface="Arimo"/>
              </a:rPr>
              <a:t>Data Description</a:t>
            </a:r>
          </a:p>
        </p:txBody>
      </p:sp>
      <p:pic>
        <p:nvPicPr>
          <p:cNvPr id="140" name="Google Shape;140;p18"/>
          <p:cNvPicPr preferRelativeResize="0"/>
          <p:nvPr/>
        </p:nvPicPr>
        <p:blipFill>
          <a:blip r:embed="rId3">
            <a:alphaModFix/>
          </a:blip>
          <a:srcRect/>
          <a:stretch/>
        </p:blipFill>
        <p:spPr>
          <a:xfrm>
            <a:off x="6334125" y="1477539"/>
            <a:ext cx="5857875" cy="3902922"/>
          </a:xfrm>
          <a:prstGeom prst="rect">
            <a:avLst/>
          </a:prstGeom>
          <a:noFill/>
          <a:ln>
            <a:noFill/>
          </a:ln>
        </p:spPr>
      </p:pic>
      <p:sp>
        <p:nvSpPr>
          <p:cNvPr id="141" name="Google Shape;141;p18"/>
          <p:cNvSpPr txBox="1"/>
          <p:nvPr/>
        </p:nvSpPr>
        <p:spPr>
          <a:xfrm>
            <a:off x="571500" y="1428750"/>
            <a:ext cx="5550693"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dirty="0">
                <a:solidFill>
                  <a:srgbClr val="2B2B2B"/>
                </a:solidFill>
                <a:latin typeface="Arimo"/>
                <a:ea typeface="Arimo"/>
                <a:cs typeface="Arimo"/>
                <a:sym typeface="Arimo"/>
              </a:rPr>
              <a:t>18th-Century Longhand Script</a:t>
            </a:r>
            <a:endParaRPr dirty="0"/>
          </a:p>
        </p:txBody>
      </p:sp>
      <p:sp>
        <p:nvSpPr>
          <p:cNvPr id="142" name="Google Shape;142;p18"/>
          <p:cNvSpPr txBox="1"/>
          <p:nvPr/>
        </p:nvSpPr>
        <p:spPr>
          <a:xfrm>
            <a:off x="571500" y="1876425"/>
            <a:ext cx="5286375" cy="1846659"/>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dirty="0">
                <a:solidFill>
                  <a:srgbClr val="4A4A4A"/>
                </a:solidFill>
                <a:latin typeface="Arimo"/>
                <a:ea typeface="Arimo"/>
                <a:cs typeface="Arimo"/>
                <a:sym typeface="Arimo"/>
              </a:rPr>
              <a:t>Sourced from the George Washington Papers at the Library of Congress, this dataset encapsulates authentic 18th-century English handwriting. </a:t>
            </a:r>
          </a:p>
          <a:p>
            <a:pPr marL="0" marR="0" lvl="0" indent="0" algn="l" rtl="0">
              <a:lnSpc>
                <a:spcPct val="160000"/>
              </a:lnSpc>
              <a:spcBef>
                <a:spcPts val="0"/>
              </a:spcBef>
              <a:spcAft>
                <a:spcPts val="0"/>
              </a:spcAft>
              <a:buNone/>
            </a:pPr>
            <a:r>
              <a:rPr lang="en-US" sz="1500" b="0" i="0" u="none" strike="noStrike" cap="none" dirty="0">
                <a:solidFill>
                  <a:srgbClr val="4A4A4A"/>
                </a:solidFill>
                <a:latin typeface="Arimo"/>
                <a:ea typeface="Arimo"/>
                <a:cs typeface="Arimo"/>
                <a:sym typeface="Arimo"/>
              </a:rPr>
              <a:t>It contains 20 pages comprising 656 text lines and 4,894 word instances, written in ink on paper by two distinct writers.</a:t>
            </a:r>
            <a:endParaRPr dirty="0"/>
          </a:p>
        </p:txBody>
      </p:sp>
      <p:sp>
        <p:nvSpPr>
          <p:cNvPr id="143" name="Google Shape;143;p18"/>
          <p:cNvSpPr txBox="1"/>
          <p:nvPr/>
        </p:nvSpPr>
        <p:spPr>
          <a:xfrm>
            <a:off x="571500" y="3764485"/>
            <a:ext cx="5286375" cy="1219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dirty="0">
                <a:solidFill>
                  <a:srgbClr val="4A4A4A"/>
                </a:solidFill>
                <a:latin typeface="Arimo"/>
                <a:ea typeface="Arimo"/>
                <a:cs typeface="Arimo"/>
                <a:sym typeface="Arimo"/>
              </a:rPr>
              <a:t>A major strategic advantage of this dataset is its pre-processed format. The images have already been binarized and normalized into line-level structures, accompanied by precise ground truth text transcriptions.</a:t>
            </a:r>
            <a:endParaRPr dirty="0"/>
          </a:p>
        </p:txBody>
      </p:sp>
      <p:sp>
        <p:nvSpPr>
          <p:cNvPr id="2" name="Google Shape;141;p18">
            <a:extLst>
              <a:ext uri="{FF2B5EF4-FFF2-40B4-BE49-F238E27FC236}">
                <a16:creationId xmlns:a16="http://schemas.microsoft.com/office/drawing/2014/main" id="{B7ECB474-0759-F765-E387-B03182A88D78}"/>
              </a:ext>
            </a:extLst>
          </p:cNvPr>
          <p:cNvSpPr txBox="1"/>
          <p:nvPr/>
        </p:nvSpPr>
        <p:spPr>
          <a:xfrm>
            <a:off x="8160589" y="5445340"/>
            <a:ext cx="3812875" cy="33435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dirty="0">
                <a:solidFill>
                  <a:srgbClr val="2B2B2B"/>
                </a:solidFill>
                <a:latin typeface="Arimo"/>
                <a:ea typeface="Arimo"/>
                <a:cs typeface="Arimo"/>
                <a:sym typeface="Arimo"/>
              </a:rPr>
              <a:t>Dataset </a:t>
            </a:r>
            <a:r>
              <a:rPr lang="en-GB" sz="2100" b="1" i="0" u="none" strike="noStrike" cap="none" dirty="0">
                <a:solidFill>
                  <a:srgbClr val="2B2B2B"/>
                </a:solidFill>
                <a:latin typeface="Arimo"/>
                <a:ea typeface="Arimo"/>
                <a:cs typeface="Arimo"/>
                <a:sym typeface="Arimo"/>
              </a:rPr>
              <a:t>Snapshot </a:t>
            </a: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BFB7CA46-5EA8-2ED6-64F1-481715502485}"/>
              </a:ext>
            </a:extLst>
          </p:cNvPr>
          <p:cNvSpPr txBox="1"/>
          <p:nvPr/>
        </p:nvSpPr>
        <p:spPr>
          <a:xfrm>
            <a:off x="1453939" y="5675159"/>
            <a:ext cx="8983580" cy="880369"/>
          </a:xfrm>
          <a:prstGeom prst="rect">
            <a:avLst/>
          </a:prstGeom>
          <a:noFill/>
          <a:ln>
            <a:solidFill>
              <a:schemeClr val="accent2"/>
            </a:solidFill>
          </a:ln>
        </p:spPr>
        <p:txBody>
          <a:bodyPr wrap="square">
            <a:spAutoFit/>
          </a:bodyPr>
          <a:lstStyle/>
          <a:p>
            <a:pPr marR="0" lvl="0">
              <a:lnSpc>
                <a:spcPct val="150000"/>
              </a:lnSpc>
              <a:spcAft>
                <a:spcPts val="800"/>
              </a:spcAft>
              <a:buSzPts val="1000"/>
              <a:tabLst>
                <a:tab pos="457200" algn="l"/>
              </a:tabLst>
            </a:pPr>
            <a:r>
              <a:rPr lang="en-US" b="1" kern="100" dirty="0">
                <a:effectLst/>
                <a:ea typeface="Aptos" panose="020B0004020202020204" pitchFamily="34" charset="0"/>
                <a:cs typeface="Times New Roman" panose="02020603050405020304" pitchFamily="18" charset="0"/>
              </a:rPr>
              <a:t>5. Evaluation &amp; Optimization</a:t>
            </a:r>
            <a:r>
              <a:rPr lang="en-US" kern="100" dirty="0">
                <a:effectLst/>
                <a:ea typeface="Aptos" panose="020B0004020202020204" pitchFamily="34" charset="0"/>
                <a:cs typeface="Times New Roman" panose="02020603050405020304" pitchFamily="18" charset="0"/>
              </a:rPr>
              <a:t> – Assess models using standard OCR metrics: Character Error Rate (CER) and Word Error Rate (WER) to identify the most effective transcription model.</a:t>
            </a:r>
          </a:p>
        </p:txBody>
      </p:sp>
      <p:sp>
        <p:nvSpPr>
          <p:cNvPr id="11" name="Google Shape;139;p18">
            <a:extLst>
              <a:ext uri="{FF2B5EF4-FFF2-40B4-BE49-F238E27FC236}">
                <a16:creationId xmlns:a16="http://schemas.microsoft.com/office/drawing/2014/main" id="{2D6EA0DC-6AEC-1469-1355-482E0842BECB}"/>
              </a:ext>
            </a:extLst>
          </p:cNvPr>
          <p:cNvSpPr txBox="1"/>
          <p:nvPr/>
        </p:nvSpPr>
        <p:spPr>
          <a:xfrm>
            <a:off x="3795963" y="412023"/>
            <a:ext cx="5550693" cy="92333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6000" b="1" i="0" u="none" strike="noStrike" cap="none" dirty="0">
                <a:solidFill>
                  <a:schemeClr val="accent2"/>
                </a:solidFill>
                <a:latin typeface="+mj-lt"/>
                <a:ea typeface="Arimo"/>
                <a:cs typeface="Arimo"/>
                <a:sym typeface="Arimo"/>
              </a:rPr>
              <a:t>Methodology</a:t>
            </a:r>
          </a:p>
        </p:txBody>
      </p:sp>
      <p:sp>
        <p:nvSpPr>
          <p:cNvPr id="13" name="TextBox 12">
            <a:extLst>
              <a:ext uri="{FF2B5EF4-FFF2-40B4-BE49-F238E27FC236}">
                <a16:creationId xmlns:a16="http://schemas.microsoft.com/office/drawing/2014/main" id="{28EA5B44-81F9-641A-E381-D25662E2D35A}"/>
              </a:ext>
            </a:extLst>
          </p:cNvPr>
          <p:cNvSpPr txBox="1"/>
          <p:nvPr/>
        </p:nvSpPr>
        <p:spPr>
          <a:xfrm>
            <a:off x="1604210" y="1335353"/>
            <a:ext cx="8325853" cy="880369"/>
          </a:xfrm>
          <a:prstGeom prst="rect">
            <a:avLst/>
          </a:prstGeom>
          <a:noFill/>
          <a:ln>
            <a:solidFill>
              <a:schemeClr val="accent2"/>
            </a:solidFill>
          </a:ln>
        </p:spPr>
        <p:txBody>
          <a:bodyPr wrap="square">
            <a:spAutoFit/>
          </a:bodyPr>
          <a:lstStyle/>
          <a:p>
            <a:pPr marR="0" lvl="0">
              <a:lnSpc>
                <a:spcPct val="150000"/>
              </a:lnSpc>
              <a:spcAft>
                <a:spcPts val="800"/>
              </a:spcAft>
              <a:buSzPts val="1000"/>
              <a:tabLst>
                <a:tab pos="457200" algn="l"/>
              </a:tabLst>
            </a:pPr>
            <a:r>
              <a:rPr lang="en-US" b="1" kern="100" dirty="0">
                <a:effectLst/>
                <a:ea typeface="Aptos" panose="020B0004020202020204" pitchFamily="34" charset="0"/>
                <a:cs typeface="Times New Roman" panose="02020603050405020304" pitchFamily="18" charset="0"/>
              </a:rPr>
              <a:t>1. Data Preprocessing</a:t>
            </a:r>
            <a:r>
              <a:rPr lang="en-US" b="1" kern="100" dirty="0">
                <a:ea typeface="Aptos" panose="020B0004020202020204" pitchFamily="34" charset="0"/>
                <a:cs typeface="Times New Roman" panose="02020603050405020304" pitchFamily="18" charset="0"/>
              </a:rPr>
              <a:t>: </a:t>
            </a:r>
            <a:r>
              <a:rPr lang="en-US" kern="100" dirty="0">
                <a:effectLst/>
                <a:ea typeface="Aptos" panose="020B0004020202020204" pitchFamily="34" charset="0"/>
                <a:cs typeface="Times New Roman" panose="02020603050405020304" pitchFamily="18" charset="0"/>
              </a:rPr>
              <a:t>Image binarization, resizing with padding, tensor normalization, and parsing ground-truth transcriptions.</a:t>
            </a:r>
          </a:p>
        </p:txBody>
      </p:sp>
      <p:sp>
        <p:nvSpPr>
          <p:cNvPr id="15" name="TextBox 14">
            <a:extLst>
              <a:ext uri="{FF2B5EF4-FFF2-40B4-BE49-F238E27FC236}">
                <a16:creationId xmlns:a16="http://schemas.microsoft.com/office/drawing/2014/main" id="{8CF3281E-9873-E893-442A-1D17BF437DCD}"/>
              </a:ext>
            </a:extLst>
          </p:cNvPr>
          <p:cNvSpPr txBox="1"/>
          <p:nvPr/>
        </p:nvSpPr>
        <p:spPr>
          <a:xfrm>
            <a:off x="2673140" y="2229752"/>
            <a:ext cx="6673516" cy="1295868"/>
          </a:xfrm>
          <a:prstGeom prst="rect">
            <a:avLst/>
          </a:prstGeom>
          <a:noFill/>
          <a:ln>
            <a:solidFill>
              <a:schemeClr val="accent2"/>
            </a:solidFill>
          </a:ln>
        </p:spPr>
        <p:txBody>
          <a:bodyPr wrap="square">
            <a:spAutoFit/>
          </a:bodyPr>
          <a:lstStyle/>
          <a:p>
            <a:pPr marR="0" lvl="0">
              <a:lnSpc>
                <a:spcPct val="150000"/>
              </a:lnSpc>
              <a:spcAft>
                <a:spcPts val="800"/>
              </a:spcAft>
              <a:buSzPts val="1000"/>
              <a:tabLst>
                <a:tab pos="457200" algn="l"/>
              </a:tabLst>
            </a:pPr>
            <a:r>
              <a:rPr lang="en-US" b="1" kern="100" dirty="0">
                <a:effectLst/>
                <a:ea typeface="Aptos" panose="020B0004020202020204" pitchFamily="34" charset="0"/>
                <a:cs typeface="Times New Roman" panose="02020603050405020304" pitchFamily="18" charset="0"/>
              </a:rPr>
              <a:t>2. Exploratory Data Analysis (EDA)</a:t>
            </a:r>
            <a:r>
              <a:rPr lang="en-US" b="1" kern="100" dirty="0">
                <a:ea typeface="Aptos" panose="020B0004020202020204" pitchFamily="34" charset="0"/>
                <a:cs typeface="Times New Roman" panose="02020603050405020304" pitchFamily="18" charset="0"/>
              </a:rPr>
              <a:t>: </a:t>
            </a:r>
            <a:r>
              <a:rPr lang="en-US" kern="100" dirty="0">
                <a:effectLst/>
                <a:ea typeface="Aptos" panose="020B0004020202020204" pitchFamily="34" charset="0"/>
                <a:cs typeface="Times New Roman" panose="02020603050405020304" pitchFamily="18" charset="0"/>
              </a:rPr>
              <a:t>Examine character frequency, text length distributions, and image aspect ratios to guide architecture parameters.</a:t>
            </a:r>
          </a:p>
        </p:txBody>
      </p:sp>
      <p:sp>
        <p:nvSpPr>
          <p:cNvPr id="17" name="TextBox 16">
            <a:extLst>
              <a:ext uri="{FF2B5EF4-FFF2-40B4-BE49-F238E27FC236}">
                <a16:creationId xmlns:a16="http://schemas.microsoft.com/office/drawing/2014/main" id="{AC1EEAB2-7390-2207-FF27-D2EEA80DEB1E}"/>
              </a:ext>
            </a:extLst>
          </p:cNvPr>
          <p:cNvSpPr txBox="1"/>
          <p:nvPr/>
        </p:nvSpPr>
        <p:spPr>
          <a:xfrm>
            <a:off x="1716505" y="3509578"/>
            <a:ext cx="8213558" cy="880369"/>
          </a:xfrm>
          <a:prstGeom prst="rect">
            <a:avLst/>
          </a:prstGeom>
          <a:noFill/>
          <a:ln>
            <a:solidFill>
              <a:schemeClr val="accent2"/>
            </a:solidFill>
          </a:ln>
        </p:spPr>
        <p:txBody>
          <a:bodyPr wrap="square">
            <a:spAutoFit/>
          </a:bodyPr>
          <a:lstStyle/>
          <a:p>
            <a:pPr marR="0" lvl="0">
              <a:lnSpc>
                <a:spcPct val="150000"/>
              </a:lnSpc>
              <a:spcAft>
                <a:spcPts val="800"/>
              </a:spcAft>
              <a:buSzPts val="1000"/>
              <a:tabLst>
                <a:tab pos="457200" algn="l"/>
              </a:tabLst>
            </a:pPr>
            <a:r>
              <a:rPr lang="en-US" b="1" kern="100" dirty="0">
                <a:effectLst/>
                <a:ea typeface="Aptos" panose="020B0004020202020204" pitchFamily="34" charset="0"/>
                <a:cs typeface="Times New Roman" panose="02020603050405020304" pitchFamily="18" charset="0"/>
              </a:rPr>
              <a:t>3. Data Augmentation</a:t>
            </a:r>
            <a:r>
              <a:rPr lang="en-US" kern="100" dirty="0">
                <a:effectLst/>
                <a:ea typeface="Aptos" panose="020B0004020202020204" pitchFamily="34" charset="0"/>
                <a:cs typeface="Times New Roman" panose="02020603050405020304" pitchFamily="18" charset="0"/>
              </a:rPr>
              <a:t> : Apply visual transformations (random shear, rotation, elastic distortion) to simulate historical wear and prevent overfitting.</a:t>
            </a:r>
          </a:p>
        </p:txBody>
      </p:sp>
      <p:sp>
        <p:nvSpPr>
          <p:cNvPr id="19" name="TextBox 18">
            <a:extLst>
              <a:ext uri="{FF2B5EF4-FFF2-40B4-BE49-F238E27FC236}">
                <a16:creationId xmlns:a16="http://schemas.microsoft.com/office/drawing/2014/main" id="{F17FC300-37AF-253D-9EF7-3E175A7784AC}"/>
              </a:ext>
            </a:extLst>
          </p:cNvPr>
          <p:cNvSpPr txBox="1"/>
          <p:nvPr/>
        </p:nvSpPr>
        <p:spPr>
          <a:xfrm>
            <a:off x="2149643" y="4373905"/>
            <a:ext cx="7774530" cy="1295868"/>
          </a:xfrm>
          <a:prstGeom prst="rect">
            <a:avLst/>
          </a:prstGeom>
          <a:noFill/>
          <a:ln>
            <a:solidFill>
              <a:schemeClr val="accent2"/>
            </a:solidFill>
          </a:ln>
        </p:spPr>
        <p:txBody>
          <a:bodyPr wrap="square">
            <a:spAutoFit/>
          </a:bodyPr>
          <a:lstStyle/>
          <a:p>
            <a:pPr marR="0" lvl="0">
              <a:lnSpc>
                <a:spcPct val="150000"/>
              </a:lnSpc>
              <a:spcAft>
                <a:spcPts val="800"/>
              </a:spcAft>
              <a:buSzPts val="1000"/>
              <a:tabLst>
                <a:tab pos="457200" algn="l"/>
              </a:tabLst>
            </a:pPr>
            <a:r>
              <a:rPr lang="en-US" b="1" kern="100" dirty="0">
                <a:effectLst/>
                <a:ea typeface="Aptos" panose="020B0004020202020204" pitchFamily="34" charset="0"/>
                <a:cs typeface="Times New Roman" panose="02020603050405020304" pitchFamily="18" charset="0"/>
              </a:rPr>
              <a:t>4. Model Training</a:t>
            </a:r>
            <a:r>
              <a:rPr lang="en-US" kern="100" dirty="0">
                <a:effectLst/>
                <a:ea typeface="Aptos" panose="020B0004020202020204" pitchFamily="34" charset="0"/>
                <a:cs typeface="Times New Roman" panose="02020603050405020304" pitchFamily="18" charset="0"/>
              </a:rPr>
              <a:t> – Split dataset into 80% Training, 10% Validation, 10% Testing. Implementation of a Convolutional Recurrent Neural Network (CRNN) with CTC Loss.</a:t>
            </a:r>
          </a:p>
        </p:txBody>
      </p:sp>
    </p:spTree>
    <p:extLst>
      <p:ext uri="{BB962C8B-B14F-4D97-AF65-F5344CB8AC3E}">
        <p14:creationId xmlns:p14="http://schemas.microsoft.com/office/powerpoint/2010/main" val="22996945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20"/>
          <p:cNvSpPr/>
          <p:nvPr/>
        </p:nvSpPr>
        <p:spPr>
          <a:xfrm>
            <a:off x="571500" y="3838575"/>
            <a:ext cx="11049000" cy="38100"/>
          </a:xfrm>
          <a:prstGeom prst="rect">
            <a:avLst/>
          </a:prstGeom>
          <a:solidFill>
            <a:srgbClr val="D4C8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60" name="Google Shape;160;p20"/>
          <p:cNvSpPr txBox="1"/>
          <p:nvPr/>
        </p:nvSpPr>
        <p:spPr>
          <a:xfrm>
            <a:off x="507968" y="4191000"/>
            <a:ext cx="2668302" cy="276999"/>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i="0" u="none" strike="noStrike" cap="none" dirty="0">
                <a:solidFill>
                  <a:schemeClr val="accent2"/>
                </a:solidFill>
                <a:latin typeface="Arimo"/>
                <a:ea typeface="Arimo"/>
                <a:cs typeface="Arimo"/>
                <a:sym typeface="Arimo"/>
              </a:rPr>
              <a:t>1. Data Loading</a:t>
            </a:r>
            <a:endParaRPr dirty="0">
              <a:solidFill>
                <a:schemeClr val="accent2"/>
              </a:solidFill>
            </a:endParaRPr>
          </a:p>
        </p:txBody>
      </p:sp>
      <p:sp>
        <p:nvSpPr>
          <p:cNvPr id="161" name="Google Shape;161;p20"/>
          <p:cNvSpPr txBox="1"/>
          <p:nvPr/>
        </p:nvSpPr>
        <p:spPr>
          <a:xfrm>
            <a:off x="571500" y="4600575"/>
            <a:ext cx="2541240" cy="1329595"/>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350" b="0" i="0" u="none" strike="noStrike" cap="none">
                <a:ea typeface="Arimo"/>
                <a:cs typeface="Arimo"/>
                <a:sym typeface="Arimo"/>
              </a:rPr>
              <a:t>Write custom parsing scripts to dynamically link FKI ground-truth transcription files to binarized line images.</a:t>
            </a:r>
            <a:endParaRPr/>
          </a:p>
        </p:txBody>
      </p:sp>
      <p:sp>
        <p:nvSpPr>
          <p:cNvPr id="162" name="Google Shape;162;p20"/>
          <p:cNvSpPr txBox="1"/>
          <p:nvPr/>
        </p:nvSpPr>
        <p:spPr>
          <a:xfrm>
            <a:off x="3343888" y="1874639"/>
            <a:ext cx="2668302" cy="276999"/>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i="0" u="none" strike="noStrike" cap="none" dirty="0">
                <a:solidFill>
                  <a:schemeClr val="accent2"/>
                </a:solidFill>
                <a:latin typeface="Arimo"/>
                <a:ea typeface="Arimo"/>
                <a:cs typeface="Arimo"/>
                <a:sym typeface="Arimo"/>
              </a:rPr>
              <a:t>2. CNN Extractor</a:t>
            </a:r>
            <a:endParaRPr dirty="0">
              <a:solidFill>
                <a:schemeClr val="accent2"/>
              </a:solidFill>
            </a:endParaRPr>
          </a:p>
        </p:txBody>
      </p:sp>
      <p:sp>
        <p:nvSpPr>
          <p:cNvPr id="163" name="Google Shape;163;p20"/>
          <p:cNvSpPr txBox="1"/>
          <p:nvPr/>
        </p:nvSpPr>
        <p:spPr>
          <a:xfrm>
            <a:off x="3407419" y="2284214"/>
            <a:ext cx="2541240" cy="997196"/>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350" b="0" i="0" u="none" strike="noStrike" cap="none" dirty="0">
                <a:ea typeface="Arimo"/>
                <a:cs typeface="Arimo"/>
                <a:sym typeface="Arimo"/>
              </a:rPr>
              <a:t>Pass text lines through a CNN to extract features and output a sequence of visual feature vectors.</a:t>
            </a:r>
            <a:endParaRPr dirty="0"/>
          </a:p>
        </p:txBody>
      </p:sp>
      <p:sp>
        <p:nvSpPr>
          <p:cNvPr id="164" name="Google Shape;164;p20"/>
          <p:cNvSpPr txBox="1"/>
          <p:nvPr/>
        </p:nvSpPr>
        <p:spPr>
          <a:xfrm>
            <a:off x="6179808" y="4191000"/>
            <a:ext cx="2668302" cy="276999"/>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i="0" u="none" strike="noStrike" cap="none">
                <a:solidFill>
                  <a:schemeClr val="accent2"/>
                </a:solidFill>
                <a:latin typeface="Arimo"/>
                <a:ea typeface="Arimo"/>
                <a:cs typeface="Arimo"/>
                <a:sym typeface="Arimo"/>
              </a:rPr>
              <a:t>3. RNN Sequence</a:t>
            </a:r>
            <a:endParaRPr>
              <a:solidFill>
                <a:schemeClr val="accent2"/>
              </a:solidFill>
            </a:endParaRPr>
          </a:p>
        </p:txBody>
      </p:sp>
      <p:sp>
        <p:nvSpPr>
          <p:cNvPr id="165" name="Google Shape;165;p20"/>
          <p:cNvSpPr txBox="1"/>
          <p:nvPr/>
        </p:nvSpPr>
        <p:spPr>
          <a:xfrm>
            <a:off x="6243339" y="4600575"/>
            <a:ext cx="2541240" cy="1329595"/>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350" b="0" i="0" u="none" strike="noStrike" cap="none">
                <a:ea typeface="Arimo"/>
                <a:cs typeface="Arimo"/>
                <a:sym typeface="Arimo"/>
              </a:rPr>
              <a:t>Feed visual features into a Bidirectional LSTM to capture the contextual flow and letter dependencies.</a:t>
            </a:r>
            <a:endParaRPr/>
          </a:p>
        </p:txBody>
      </p:sp>
      <p:sp>
        <p:nvSpPr>
          <p:cNvPr id="166" name="Google Shape;166;p20"/>
          <p:cNvSpPr txBox="1"/>
          <p:nvPr/>
        </p:nvSpPr>
        <p:spPr>
          <a:xfrm>
            <a:off x="9015728" y="1874639"/>
            <a:ext cx="2668302" cy="276999"/>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i="0" u="none" strike="noStrike" cap="none">
                <a:solidFill>
                  <a:schemeClr val="accent2"/>
                </a:solidFill>
                <a:latin typeface="Arimo"/>
                <a:ea typeface="Arimo"/>
                <a:cs typeface="Arimo"/>
                <a:sym typeface="Arimo"/>
              </a:rPr>
              <a:t>4. CTC Alignment</a:t>
            </a:r>
            <a:endParaRPr>
              <a:solidFill>
                <a:schemeClr val="accent2"/>
              </a:solidFill>
            </a:endParaRPr>
          </a:p>
        </p:txBody>
      </p:sp>
      <p:sp>
        <p:nvSpPr>
          <p:cNvPr id="167" name="Google Shape;167;p20"/>
          <p:cNvSpPr txBox="1"/>
          <p:nvPr/>
        </p:nvSpPr>
        <p:spPr>
          <a:xfrm>
            <a:off x="9079259" y="2284214"/>
            <a:ext cx="2541240" cy="1329595"/>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350" b="0" i="0" u="none" strike="noStrike" cap="none">
                <a:ea typeface="Arimo"/>
                <a:cs typeface="Arimo"/>
                <a:sym typeface="Arimo"/>
              </a:rPr>
              <a:t>Utilize Connectionist Temporal Classification Loss to map visual features to text without precise segmentation.</a:t>
            </a:r>
            <a:endParaRPr/>
          </a:p>
        </p:txBody>
      </p:sp>
      <p:sp>
        <p:nvSpPr>
          <p:cNvPr id="168" name="Google Shape;168;p20"/>
          <p:cNvSpPr/>
          <p:nvPr/>
        </p:nvSpPr>
        <p:spPr>
          <a:xfrm>
            <a:off x="1727820" y="3743325"/>
            <a:ext cx="228600" cy="228600"/>
          </a:xfrm>
          <a:prstGeom prst="roundRect">
            <a:avLst>
              <a:gd name="adj" fmla="val 50000"/>
            </a:avLst>
          </a:prstGeom>
          <a:solidFill>
            <a:srgbClr val="FFFAF1"/>
          </a:solidFill>
          <a:ln w="47625" cap="flat" cmpd="sng">
            <a:solidFill>
              <a:srgbClr val="8B5A2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69" name="Google Shape;169;p20"/>
          <p:cNvSpPr/>
          <p:nvPr/>
        </p:nvSpPr>
        <p:spPr>
          <a:xfrm>
            <a:off x="4563740" y="3743325"/>
            <a:ext cx="228600" cy="228600"/>
          </a:xfrm>
          <a:prstGeom prst="roundRect">
            <a:avLst>
              <a:gd name="adj" fmla="val 50000"/>
            </a:avLst>
          </a:prstGeom>
          <a:solidFill>
            <a:srgbClr val="FFFAF1"/>
          </a:solidFill>
          <a:ln w="47625" cap="flat" cmpd="sng">
            <a:solidFill>
              <a:srgbClr val="8B5A2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0" name="Google Shape;170;p20"/>
          <p:cNvSpPr/>
          <p:nvPr/>
        </p:nvSpPr>
        <p:spPr>
          <a:xfrm>
            <a:off x="7399659" y="3743325"/>
            <a:ext cx="228600" cy="228600"/>
          </a:xfrm>
          <a:prstGeom prst="roundRect">
            <a:avLst>
              <a:gd name="adj" fmla="val 50000"/>
            </a:avLst>
          </a:prstGeom>
          <a:solidFill>
            <a:srgbClr val="FFFAF1"/>
          </a:solidFill>
          <a:ln w="47625" cap="flat" cmpd="sng">
            <a:solidFill>
              <a:srgbClr val="8B5A2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1" name="Google Shape;171;p20"/>
          <p:cNvSpPr/>
          <p:nvPr/>
        </p:nvSpPr>
        <p:spPr>
          <a:xfrm>
            <a:off x="10235579" y="3743325"/>
            <a:ext cx="228600" cy="228600"/>
          </a:xfrm>
          <a:prstGeom prst="roundRect">
            <a:avLst>
              <a:gd name="adj" fmla="val 50000"/>
            </a:avLst>
          </a:prstGeom>
          <a:solidFill>
            <a:srgbClr val="FFFAF1"/>
          </a:solidFill>
          <a:ln w="47625" cap="flat" cmpd="sng">
            <a:solidFill>
              <a:srgbClr val="8B5A2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2" name="Google Shape;172;p20"/>
          <p:cNvSpPr txBox="1"/>
          <p:nvPr/>
        </p:nvSpPr>
        <p:spPr>
          <a:xfrm>
            <a:off x="1727820" y="394144"/>
            <a:ext cx="9600548" cy="92333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6000" b="1" i="0" u="none" strike="noStrike" cap="none" dirty="0">
                <a:solidFill>
                  <a:schemeClr val="accent2"/>
                </a:solidFill>
                <a:latin typeface="+mj-lt"/>
                <a:ea typeface="Arimo"/>
                <a:cs typeface="Arimo"/>
                <a:sym typeface="Arimo"/>
              </a:rPr>
              <a:t>Model Implementation Stages</a:t>
            </a:r>
            <a:endParaRPr sz="6000" dirty="0">
              <a:solidFill>
                <a:schemeClr val="accent2"/>
              </a:solidFill>
              <a:latin typeface="+mj-l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21"/>
          <p:cNvSpPr txBox="1"/>
          <p:nvPr/>
        </p:nvSpPr>
        <p:spPr>
          <a:xfrm>
            <a:off x="1809750" y="2162175"/>
            <a:ext cx="9048750" cy="369332"/>
          </a:xfrm>
          <a:prstGeom prst="rect">
            <a:avLst/>
          </a:prstGeom>
          <a:noFill/>
          <a:ln>
            <a:noFill/>
          </a:ln>
        </p:spPr>
        <p:txBody>
          <a:bodyPr spcFirstLastPara="1" wrap="square" lIns="0" tIns="0" rIns="0" bIns="0" anchor="t" anchorCtr="0">
            <a:spAutoFit/>
          </a:bodyPr>
          <a:lstStyle/>
          <a:p>
            <a:pPr lvl="0">
              <a:lnSpc>
                <a:spcPct val="160000"/>
              </a:lnSpc>
            </a:pPr>
            <a:r>
              <a:rPr lang="en-US" sz="1500" b="1" i="0" u="none" strike="noStrike" cap="none" dirty="0">
                <a:solidFill>
                  <a:srgbClr val="2B2B2B"/>
                </a:solidFill>
                <a:latin typeface="Arimo"/>
                <a:ea typeface="Arimo"/>
                <a:cs typeface="Arimo"/>
                <a:sym typeface="Arimo"/>
              </a:rPr>
              <a:t>Programming Language :</a:t>
            </a:r>
            <a:r>
              <a:rPr lang="en-US" sz="1500" b="0" i="0" u="none" strike="noStrike" cap="none" dirty="0">
                <a:solidFill>
                  <a:srgbClr val="4A4A4A"/>
                </a:solidFill>
                <a:latin typeface="Arimo"/>
                <a:ea typeface="Arimo"/>
                <a:cs typeface="Arimo"/>
                <a:sym typeface="Arimo"/>
              </a:rPr>
              <a:t> Python</a:t>
            </a:r>
            <a:endParaRPr dirty="0"/>
          </a:p>
        </p:txBody>
      </p:sp>
      <p:sp>
        <p:nvSpPr>
          <p:cNvPr id="178" name="Google Shape;178;p21"/>
          <p:cNvSpPr txBox="1"/>
          <p:nvPr/>
        </p:nvSpPr>
        <p:spPr>
          <a:xfrm>
            <a:off x="1809750" y="3824168"/>
            <a:ext cx="9048750" cy="369332"/>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dirty="0">
                <a:solidFill>
                  <a:srgbClr val="2B2B2B"/>
                </a:solidFill>
                <a:latin typeface="Arimo"/>
                <a:ea typeface="Arimo"/>
                <a:cs typeface="Arimo"/>
                <a:sym typeface="Arimo"/>
              </a:rPr>
              <a:t>Dataset: </a:t>
            </a:r>
            <a:r>
              <a:rPr lang="en-US" sz="1500" b="0" i="0" u="none" strike="noStrike" cap="none" dirty="0">
                <a:solidFill>
                  <a:srgbClr val="4A4A4A"/>
                </a:solidFill>
                <a:latin typeface="Arimo"/>
                <a:ea typeface="Arimo"/>
                <a:cs typeface="Arimo"/>
                <a:sym typeface="Arimo"/>
              </a:rPr>
              <a:t>Data sourced securely from Research Group on Computer Vision and Artificial Intelligence (FKI)..</a:t>
            </a:r>
            <a:endParaRPr dirty="0"/>
          </a:p>
        </p:txBody>
      </p:sp>
      <p:pic>
        <p:nvPicPr>
          <p:cNvPr id="181" name="Google Shape;181;p21" descr="image.png"/>
          <p:cNvPicPr preferRelativeResize="0"/>
          <p:nvPr/>
        </p:nvPicPr>
        <p:blipFill rotWithShape="1">
          <a:blip r:embed="rId3">
            <a:alphaModFix/>
            <a:extLst>
              <a:ext uri="{BEBA8EAE-BF5A-486C-A8C5-ECC9F3942E4B}">
                <a14:imgProps xmlns:a14="http://schemas.microsoft.com/office/drawing/2010/main">
                  <a14:imgLayer r:embed="rId4">
                    <a14:imgEffect>
                      <a14:brightnessContrast bright="40000" contrast="40000"/>
                    </a14:imgEffect>
                  </a14:imgLayer>
                </a14:imgProps>
              </a:ext>
            </a:extLst>
          </a:blip>
          <a:srcRect/>
          <a:stretch/>
        </p:blipFill>
        <p:spPr>
          <a:xfrm>
            <a:off x="1333500" y="2176462"/>
            <a:ext cx="333375" cy="276225"/>
          </a:xfrm>
          <a:prstGeom prst="rect">
            <a:avLst/>
          </a:prstGeom>
          <a:noFill/>
          <a:ln>
            <a:noFill/>
          </a:ln>
        </p:spPr>
      </p:pic>
      <p:pic>
        <p:nvPicPr>
          <p:cNvPr id="182" name="Google Shape;182;p21" descr="image.png"/>
          <p:cNvPicPr preferRelativeResize="0"/>
          <p:nvPr/>
        </p:nvPicPr>
        <p:blipFill rotWithShape="1">
          <a:blip r:embed="rId5">
            <a:alphaModFix/>
            <a:extLst>
              <a:ext uri="{BEBA8EAE-BF5A-486C-A8C5-ECC9F3942E4B}">
                <a14:imgProps xmlns:a14="http://schemas.microsoft.com/office/drawing/2010/main">
                  <a14:imgLayer r:embed="rId6">
                    <a14:imgEffect>
                      <a14:brightnessContrast bright="40000" contrast="40000"/>
                    </a14:imgEffect>
                  </a14:imgLayer>
                </a14:imgProps>
              </a:ext>
            </a:extLst>
          </a:blip>
          <a:srcRect/>
          <a:stretch/>
        </p:blipFill>
        <p:spPr>
          <a:xfrm>
            <a:off x="1366837" y="3963469"/>
            <a:ext cx="238125" cy="276225"/>
          </a:xfrm>
          <a:prstGeom prst="rect">
            <a:avLst/>
          </a:prstGeom>
          <a:noFill/>
          <a:ln>
            <a:noFill/>
          </a:ln>
        </p:spPr>
      </p:pic>
      <p:pic>
        <p:nvPicPr>
          <p:cNvPr id="183" name="Google Shape;183;p21" descr="image.png"/>
          <p:cNvPicPr preferRelativeResize="0"/>
          <p:nvPr/>
        </p:nvPicPr>
        <p:blipFill rotWithShape="1">
          <a:blip r:embed="rId7">
            <a:alphaModFix/>
            <a:extLst>
              <a:ext uri="{BEBA8EAE-BF5A-486C-A8C5-ECC9F3942E4B}">
                <a14:imgProps xmlns:a14="http://schemas.microsoft.com/office/drawing/2010/main">
                  <a14:imgLayer r:embed="rId8">
                    <a14:imgEffect>
                      <a14:brightnessContrast bright="40000" contrast="40000"/>
                    </a14:imgEffect>
                  </a14:imgLayer>
                </a14:imgProps>
              </a:ext>
            </a:extLst>
          </a:blip>
          <a:srcRect/>
          <a:stretch/>
        </p:blipFill>
        <p:spPr>
          <a:xfrm>
            <a:off x="1399422" y="4731040"/>
            <a:ext cx="304800" cy="276225"/>
          </a:xfrm>
          <a:prstGeom prst="rect">
            <a:avLst/>
          </a:prstGeom>
          <a:noFill/>
          <a:ln>
            <a:noFill/>
          </a:ln>
        </p:spPr>
      </p:pic>
      <p:pic>
        <p:nvPicPr>
          <p:cNvPr id="184" name="Google Shape;184;p21" descr="image.png"/>
          <p:cNvPicPr preferRelativeResize="0"/>
          <p:nvPr/>
        </p:nvPicPr>
        <p:blipFill rotWithShape="1">
          <a:blip r:embed="rId9">
            <a:alphaModFix/>
            <a:extLst>
              <a:ext uri="{BEBA8EAE-BF5A-486C-A8C5-ECC9F3942E4B}">
                <a14:imgProps xmlns:a14="http://schemas.microsoft.com/office/drawing/2010/main">
                  <a14:imgLayer r:embed="rId10">
                    <a14:imgEffect>
                      <a14:brightnessContrast bright="40000" contrast="40000"/>
                    </a14:imgEffect>
                  </a14:imgLayer>
                </a14:imgProps>
              </a:ext>
            </a:extLst>
          </a:blip>
          <a:srcRect/>
          <a:stretch/>
        </p:blipFill>
        <p:spPr>
          <a:xfrm>
            <a:off x="1418472" y="5458638"/>
            <a:ext cx="266700" cy="276225"/>
          </a:xfrm>
          <a:prstGeom prst="rect">
            <a:avLst/>
          </a:prstGeom>
          <a:noFill/>
          <a:ln>
            <a:noFill/>
          </a:ln>
        </p:spPr>
      </p:pic>
      <p:sp>
        <p:nvSpPr>
          <p:cNvPr id="185" name="Google Shape;185;p21"/>
          <p:cNvSpPr txBox="1"/>
          <p:nvPr/>
        </p:nvSpPr>
        <p:spPr>
          <a:xfrm>
            <a:off x="2836445" y="886745"/>
            <a:ext cx="7642058" cy="830997"/>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5400" b="1" dirty="0">
                <a:solidFill>
                  <a:schemeClr val="accent2"/>
                </a:solidFill>
                <a:latin typeface="+mj-lt"/>
                <a:ea typeface="Arimo"/>
                <a:cs typeface="Arimo"/>
                <a:sym typeface="Arimo"/>
              </a:rPr>
              <a:t>Required Tools</a:t>
            </a:r>
            <a:endParaRPr sz="5400" b="1" dirty="0">
              <a:solidFill>
                <a:schemeClr val="accent2"/>
              </a:solidFill>
              <a:latin typeface="+mj-lt"/>
            </a:endParaRPr>
          </a:p>
        </p:txBody>
      </p:sp>
      <p:sp>
        <p:nvSpPr>
          <p:cNvPr id="2" name="Google Shape;177;p21">
            <a:extLst>
              <a:ext uri="{FF2B5EF4-FFF2-40B4-BE49-F238E27FC236}">
                <a16:creationId xmlns:a16="http://schemas.microsoft.com/office/drawing/2014/main" id="{67C9691A-8DDF-2607-35E7-3D72C66F119F}"/>
              </a:ext>
            </a:extLst>
          </p:cNvPr>
          <p:cNvSpPr txBox="1"/>
          <p:nvPr/>
        </p:nvSpPr>
        <p:spPr>
          <a:xfrm>
            <a:off x="1818775" y="2838666"/>
            <a:ext cx="9048750" cy="763286"/>
          </a:xfrm>
          <a:prstGeom prst="rect">
            <a:avLst/>
          </a:prstGeom>
          <a:noFill/>
          <a:ln>
            <a:noFill/>
          </a:ln>
        </p:spPr>
        <p:txBody>
          <a:bodyPr spcFirstLastPara="1" wrap="square" lIns="0" tIns="0" rIns="0" bIns="0" anchor="t" anchorCtr="0">
            <a:spAutoFit/>
          </a:bodyPr>
          <a:lstStyle/>
          <a:p>
            <a:pPr lvl="0">
              <a:lnSpc>
                <a:spcPct val="160000"/>
              </a:lnSpc>
            </a:pPr>
            <a:r>
              <a:rPr lang="en-US" sz="1600" b="1" dirty="0">
                <a:solidFill>
                  <a:srgbClr val="2E2E2E"/>
                </a:solidFill>
                <a:latin typeface="Arimo" panose="020B0604020202020204" charset="0"/>
                <a:ea typeface="Arimo" panose="020B0604020202020204" charset="0"/>
                <a:cs typeface="Arimo" panose="020B0604020202020204" charset="0"/>
                <a:sym typeface="Open Sauce Bold"/>
              </a:rPr>
              <a:t>Libraries/Packages </a:t>
            </a:r>
            <a:r>
              <a:rPr lang="en-US" sz="1500" b="1" i="0" u="none" strike="noStrike" cap="none" dirty="0">
                <a:solidFill>
                  <a:srgbClr val="2B2B2B"/>
                </a:solidFill>
                <a:latin typeface="Arimo"/>
                <a:ea typeface="Arimo"/>
                <a:cs typeface="Arimo"/>
                <a:sym typeface="Arimo"/>
              </a:rPr>
              <a:t>:</a:t>
            </a:r>
            <a:r>
              <a:rPr lang="en-US" sz="1500" b="0" i="0" u="none" strike="noStrike" cap="none" dirty="0">
                <a:solidFill>
                  <a:srgbClr val="4A4A4A"/>
                </a:solidFill>
                <a:latin typeface="Arimo"/>
                <a:ea typeface="Arimo"/>
                <a:cs typeface="Arimo"/>
                <a:sym typeface="Arimo"/>
              </a:rPr>
              <a:t> Python, </a:t>
            </a:r>
            <a:r>
              <a:rPr lang="en-US" sz="1500" b="0" i="0" u="none" strike="noStrike" cap="none" dirty="0" err="1">
                <a:solidFill>
                  <a:srgbClr val="4A4A4A"/>
                </a:solidFill>
                <a:latin typeface="Arimo"/>
                <a:ea typeface="Arimo"/>
                <a:cs typeface="Arimo"/>
                <a:sym typeface="Arimo"/>
              </a:rPr>
              <a:t>PyTorch</a:t>
            </a:r>
            <a:r>
              <a:rPr lang="en-US" sz="1500" b="0" i="0" u="none" strike="noStrike" cap="none" dirty="0">
                <a:solidFill>
                  <a:srgbClr val="4A4A4A"/>
                </a:solidFill>
                <a:latin typeface="Arimo"/>
                <a:ea typeface="Arimo"/>
                <a:cs typeface="Arimo"/>
                <a:sym typeface="Arimo"/>
              </a:rPr>
              <a:t> or TensorFlow/</a:t>
            </a:r>
            <a:r>
              <a:rPr lang="en-US" sz="1500" b="0" i="0" u="none" strike="noStrike" cap="none" dirty="0" err="1">
                <a:solidFill>
                  <a:srgbClr val="4A4A4A"/>
                </a:solidFill>
                <a:latin typeface="Arimo"/>
                <a:ea typeface="Arimo"/>
                <a:cs typeface="Arimo"/>
                <a:sym typeface="Arimo"/>
              </a:rPr>
              <a:t>Keras</a:t>
            </a:r>
            <a:r>
              <a:rPr lang="en-US" sz="1500" b="0" i="0" u="none" strike="noStrike" cap="none" dirty="0">
                <a:solidFill>
                  <a:srgbClr val="4A4A4A"/>
                </a:solidFill>
                <a:latin typeface="Arimo"/>
                <a:ea typeface="Arimo"/>
                <a:cs typeface="Arimo"/>
                <a:sym typeface="Arimo"/>
              </a:rPr>
              <a:t>, OpenCV (for residual processing), NumPy, and Pandas.</a:t>
            </a:r>
            <a:endParaRPr dirty="0"/>
          </a:p>
        </p:txBody>
      </p:sp>
      <p:pic>
        <p:nvPicPr>
          <p:cNvPr id="3" name="Google Shape;181;p21" descr="image.png">
            <a:extLst>
              <a:ext uri="{FF2B5EF4-FFF2-40B4-BE49-F238E27FC236}">
                <a16:creationId xmlns:a16="http://schemas.microsoft.com/office/drawing/2014/main" id="{655B7DCA-23DA-3760-DDC6-3057C892EAD6}"/>
              </a:ext>
            </a:extLst>
          </p:cNvPr>
          <p:cNvPicPr preferRelativeResize="0"/>
          <p:nvPr/>
        </p:nvPicPr>
        <p:blipFill rotWithShape="1">
          <a:blip r:embed="rId3">
            <a:alphaModFix/>
            <a:extLst>
              <a:ext uri="{BEBA8EAE-BF5A-486C-A8C5-ECC9F3942E4B}">
                <a14:imgProps xmlns:a14="http://schemas.microsoft.com/office/drawing/2010/main">
                  <a14:imgLayer r:embed="rId4">
                    <a14:imgEffect>
                      <a14:brightnessContrast bright="40000" contrast="40000"/>
                    </a14:imgEffect>
                  </a14:imgLayer>
                </a14:imgProps>
              </a:ext>
            </a:extLst>
          </a:blip>
          <a:srcRect/>
          <a:stretch/>
        </p:blipFill>
        <p:spPr>
          <a:xfrm>
            <a:off x="1324475" y="2961161"/>
            <a:ext cx="304800" cy="276225"/>
          </a:xfrm>
          <a:prstGeom prst="rect">
            <a:avLst/>
          </a:prstGeom>
          <a:noFill/>
          <a:ln>
            <a:noFill/>
          </a:ln>
        </p:spPr>
      </p:pic>
      <p:sp>
        <p:nvSpPr>
          <p:cNvPr id="4" name="Google Shape;178;p21">
            <a:extLst>
              <a:ext uri="{FF2B5EF4-FFF2-40B4-BE49-F238E27FC236}">
                <a16:creationId xmlns:a16="http://schemas.microsoft.com/office/drawing/2014/main" id="{7D5892EE-7517-61B3-8B39-70DFFCCC1F4D}"/>
              </a:ext>
            </a:extLst>
          </p:cNvPr>
          <p:cNvSpPr txBox="1"/>
          <p:nvPr/>
        </p:nvSpPr>
        <p:spPr>
          <a:xfrm>
            <a:off x="1809750" y="4637933"/>
            <a:ext cx="9048750" cy="369332"/>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dirty="0">
                <a:solidFill>
                  <a:srgbClr val="2B2B2B"/>
                </a:solidFill>
                <a:latin typeface="Arimo"/>
                <a:ea typeface="Arimo"/>
                <a:cs typeface="Arimo"/>
                <a:sym typeface="Arimo"/>
              </a:rPr>
              <a:t>Version Control:</a:t>
            </a:r>
            <a:r>
              <a:rPr lang="en-US" sz="1500" b="0" i="0" u="none" strike="noStrike" cap="none" dirty="0">
                <a:solidFill>
                  <a:srgbClr val="4A4A4A"/>
                </a:solidFill>
                <a:latin typeface="Arimo"/>
                <a:ea typeface="Arimo"/>
                <a:cs typeface="Arimo"/>
                <a:sym typeface="Arimo"/>
              </a:rPr>
              <a:t> Collaboration and version tracking via GitHub.</a:t>
            </a:r>
            <a:endParaRPr dirty="0"/>
          </a:p>
        </p:txBody>
      </p:sp>
      <p:sp>
        <p:nvSpPr>
          <p:cNvPr id="5" name="Google Shape;178;p21">
            <a:extLst>
              <a:ext uri="{FF2B5EF4-FFF2-40B4-BE49-F238E27FC236}">
                <a16:creationId xmlns:a16="http://schemas.microsoft.com/office/drawing/2014/main" id="{139B6206-5817-9EB5-5631-B6B46B0714D3}"/>
              </a:ext>
            </a:extLst>
          </p:cNvPr>
          <p:cNvSpPr txBox="1"/>
          <p:nvPr/>
        </p:nvSpPr>
        <p:spPr>
          <a:xfrm>
            <a:off x="1857051" y="5365531"/>
            <a:ext cx="9048750" cy="369332"/>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dirty="0">
                <a:solidFill>
                  <a:srgbClr val="2B2B2B"/>
                </a:solidFill>
                <a:latin typeface="Arimo"/>
                <a:ea typeface="Arimo"/>
                <a:cs typeface="Arimo"/>
                <a:sym typeface="Arimo"/>
              </a:rPr>
              <a:t>IDE</a:t>
            </a:r>
            <a:r>
              <a:rPr lang="en-US" sz="1500" b="1" i="0" u="none" strike="noStrike" cap="none" dirty="0">
                <a:solidFill>
                  <a:srgbClr val="2B2B2B"/>
                </a:solidFill>
                <a:latin typeface="Arimo"/>
                <a:ea typeface="Arimo"/>
                <a:cs typeface="Arimo"/>
                <a:sym typeface="Arimo"/>
              </a:rPr>
              <a:t>:</a:t>
            </a:r>
            <a:r>
              <a:rPr lang="en-US" sz="1500" b="0" i="0" u="none" strike="noStrike" cap="none" dirty="0">
                <a:solidFill>
                  <a:srgbClr val="4A4A4A"/>
                </a:solidFill>
                <a:latin typeface="Arimo"/>
                <a:ea typeface="Arimo"/>
                <a:cs typeface="Arimo"/>
                <a:sym typeface="Arimo"/>
              </a:rPr>
              <a:t> Visual studio code, Google colab with cloud </a:t>
            </a:r>
            <a:r>
              <a:rPr lang="en-US" sz="1500" b="0" i="0" u="none" strike="noStrike" cap="none" dirty="0" err="1">
                <a:solidFill>
                  <a:srgbClr val="4A4A4A"/>
                </a:solidFill>
                <a:latin typeface="Arimo"/>
                <a:ea typeface="Arimo"/>
                <a:cs typeface="Arimo"/>
                <a:sym typeface="Arimo"/>
              </a:rPr>
              <a:t>GPUResources</a:t>
            </a:r>
            <a:r>
              <a:rPr lang="en-US" sz="1500" b="0" i="0" u="none" strike="noStrike" cap="none" dirty="0">
                <a:solidFill>
                  <a:srgbClr val="4A4A4A"/>
                </a:solidFill>
                <a:latin typeface="Arimo"/>
                <a:ea typeface="Arimo"/>
                <a:cs typeface="Arimo"/>
                <a:sym typeface="Arimo"/>
              </a:rPr>
              <a:t>, Jupiter notebook for coding and testing</a:t>
            </a:r>
            <a:endParaRPr dirty="0"/>
          </a:p>
        </p:txBody>
      </p:sp>
      <p:pic>
        <p:nvPicPr>
          <p:cNvPr id="6" name="Google Shape;184;p21" descr="image.png">
            <a:extLst>
              <a:ext uri="{FF2B5EF4-FFF2-40B4-BE49-F238E27FC236}">
                <a16:creationId xmlns:a16="http://schemas.microsoft.com/office/drawing/2014/main" id="{0DC40076-6D01-209A-B373-E2C82850C516}"/>
              </a:ext>
            </a:extLst>
          </p:cNvPr>
          <p:cNvPicPr preferRelativeResize="0"/>
          <p:nvPr/>
        </p:nvPicPr>
        <p:blipFill rotWithShape="1">
          <a:blip r:embed="rId9">
            <a:alphaModFix/>
            <a:extLst>
              <a:ext uri="{BEBA8EAE-BF5A-486C-A8C5-ECC9F3942E4B}">
                <a14:imgProps xmlns:a14="http://schemas.microsoft.com/office/drawing/2010/main">
                  <a14:imgLayer r:embed="rId10">
                    <a14:imgEffect>
                      <a14:brightnessContrast bright="40000" contrast="40000"/>
                    </a14:imgEffect>
                  </a14:imgLayer>
                </a14:imgProps>
              </a:ext>
            </a:extLst>
          </a:blip>
          <a:srcRect/>
          <a:stretch/>
        </p:blipFill>
        <p:spPr>
          <a:xfrm>
            <a:off x="1383461" y="6048123"/>
            <a:ext cx="266700" cy="276225"/>
          </a:xfrm>
          <a:prstGeom prst="rect">
            <a:avLst/>
          </a:prstGeom>
          <a:noFill/>
          <a:ln>
            <a:noFill/>
          </a:ln>
        </p:spPr>
      </p:pic>
      <p:sp>
        <p:nvSpPr>
          <p:cNvPr id="7" name="Google Shape;178;p21">
            <a:extLst>
              <a:ext uri="{FF2B5EF4-FFF2-40B4-BE49-F238E27FC236}">
                <a16:creationId xmlns:a16="http://schemas.microsoft.com/office/drawing/2014/main" id="{88BDADEA-0091-6CE6-6FC3-7BAF68F35DBF}"/>
              </a:ext>
            </a:extLst>
          </p:cNvPr>
          <p:cNvSpPr txBox="1"/>
          <p:nvPr/>
        </p:nvSpPr>
        <p:spPr>
          <a:xfrm>
            <a:off x="1818774" y="5955016"/>
            <a:ext cx="10016667" cy="369332"/>
          </a:xfrm>
          <a:prstGeom prst="rect">
            <a:avLst/>
          </a:prstGeom>
          <a:noFill/>
          <a:ln>
            <a:noFill/>
          </a:ln>
        </p:spPr>
        <p:txBody>
          <a:bodyPr spcFirstLastPara="1" wrap="square" lIns="0" tIns="0" rIns="0" bIns="0" anchor="t" anchorCtr="0">
            <a:spAutoFit/>
          </a:bodyPr>
          <a:lstStyle/>
          <a:p>
            <a:pPr lvl="0">
              <a:lnSpc>
                <a:spcPct val="160000"/>
              </a:lnSpc>
            </a:pPr>
            <a:r>
              <a:rPr lang="en-GB" sz="1500" b="1" dirty="0">
                <a:solidFill>
                  <a:srgbClr val="2B2B2B"/>
                </a:solidFill>
                <a:latin typeface="Arimo"/>
                <a:ea typeface="Arimo"/>
                <a:cs typeface="Arimo"/>
                <a:sym typeface="Arimo"/>
              </a:rPr>
              <a:t>Hardware Minimum Requirements : </a:t>
            </a:r>
            <a:r>
              <a:rPr lang="en-GB" sz="1500" dirty="0">
                <a:solidFill>
                  <a:srgbClr val="2B2B2B"/>
                </a:solidFill>
                <a:latin typeface="Arimo"/>
                <a:ea typeface="Arimo"/>
                <a:cs typeface="Arimo"/>
                <a:sym typeface="Arimo"/>
              </a:rPr>
              <a:t>Computer with; 8GB RAM, 250/500 GB SSD/HDD, Corei5 CPU/GPU 2.0 GHZ</a:t>
            </a: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6">
          <a:extLst>
            <a:ext uri="{FF2B5EF4-FFF2-40B4-BE49-F238E27FC236}">
              <a16:creationId xmlns:a16="http://schemas.microsoft.com/office/drawing/2014/main" id="{7D504BE0-23A8-D423-4905-37662EE0D537}"/>
            </a:ext>
          </a:extLst>
        </p:cNvPr>
        <p:cNvGrpSpPr/>
        <p:nvPr/>
      </p:nvGrpSpPr>
      <p:grpSpPr>
        <a:xfrm>
          <a:off x="0" y="0"/>
          <a:ext cx="0" cy="0"/>
          <a:chOff x="0" y="0"/>
          <a:chExt cx="0" cy="0"/>
        </a:xfrm>
      </p:grpSpPr>
      <p:sp>
        <p:nvSpPr>
          <p:cNvPr id="178" name="Google Shape;178;p21">
            <a:extLst>
              <a:ext uri="{FF2B5EF4-FFF2-40B4-BE49-F238E27FC236}">
                <a16:creationId xmlns:a16="http://schemas.microsoft.com/office/drawing/2014/main" id="{A9E1BB0A-1AFB-5626-F1F5-1B2491B000E6}"/>
              </a:ext>
            </a:extLst>
          </p:cNvPr>
          <p:cNvSpPr txBox="1"/>
          <p:nvPr/>
        </p:nvSpPr>
        <p:spPr>
          <a:xfrm>
            <a:off x="1809750" y="3184564"/>
            <a:ext cx="9048750" cy="369332"/>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dirty="0">
                <a:solidFill>
                  <a:srgbClr val="2B2B2B"/>
                </a:solidFill>
                <a:latin typeface="Arimo"/>
                <a:ea typeface="Arimo"/>
                <a:cs typeface="Arimo"/>
                <a:sym typeface="Arimo"/>
              </a:rPr>
              <a:t>Visual performance dashboard:</a:t>
            </a:r>
            <a:r>
              <a:rPr lang="en-US" sz="1500" b="0" i="0" u="none" strike="noStrike" cap="none" dirty="0">
                <a:solidFill>
                  <a:srgbClr val="4A4A4A"/>
                </a:solidFill>
                <a:latin typeface="Arimo"/>
                <a:ea typeface="Arimo"/>
                <a:cs typeface="Arimo"/>
                <a:sym typeface="Arimo"/>
              </a:rPr>
              <a:t> </a:t>
            </a:r>
            <a:r>
              <a:rPr lang="en-US" sz="1500" dirty="0">
                <a:solidFill>
                  <a:srgbClr val="4A4A4A"/>
                </a:solidFill>
                <a:latin typeface="Arimo"/>
                <a:ea typeface="Arimo"/>
                <a:cs typeface="Arimo"/>
                <a:sym typeface="Arimo"/>
              </a:rPr>
              <a:t>Chart showing the dataset analysis and model performance</a:t>
            </a:r>
            <a:endParaRPr dirty="0"/>
          </a:p>
        </p:txBody>
      </p:sp>
      <p:sp>
        <p:nvSpPr>
          <p:cNvPr id="179" name="Google Shape;179;p21">
            <a:extLst>
              <a:ext uri="{FF2B5EF4-FFF2-40B4-BE49-F238E27FC236}">
                <a16:creationId xmlns:a16="http://schemas.microsoft.com/office/drawing/2014/main" id="{33A3E6EF-79E7-210B-F14C-446BE5FCCA8D}"/>
              </a:ext>
            </a:extLst>
          </p:cNvPr>
          <p:cNvSpPr txBox="1"/>
          <p:nvPr/>
        </p:nvSpPr>
        <p:spPr>
          <a:xfrm>
            <a:off x="1809750" y="2162175"/>
            <a:ext cx="904875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dirty="0">
                <a:solidFill>
                  <a:srgbClr val="2B2B2B"/>
                </a:solidFill>
                <a:latin typeface="Arimo"/>
                <a:ea typeface="Arimo"/>
                <a:cs typeface="Arimo"/>
                <a:sym typeface="Arimo"/>
              </a:rPr>
              <a:t>Model Output:</a:t>
            </a:r>
            <a:r>
              <a:rPr lang="en-US" sz="1500" b="0" i="0" u="none" strike="noStrike" cap="none" dirty="0">
                <a:solidFill>
                  <a:srgbClr val="4A4A4A"/>
                </a:solidFill>
                <a:latin typeface="Arimo"/>
                <a:ea typeface="Arimo"/>
                <a:cs typeface="Arimo"/>
                <a:sym typeface="Arimo"/>
              </a:rPr>
              <a:t> A fully functioning Python-based CRNN predictive model optimized for historical handwriting recognition, alongside a custom data loader pipeline.</a:t>
            </a:r>
            <a:endParaRPr dirty="0"/>
          </a:p>
        </p:txBody>
      </p:sp>
      <p:sp>
        <p:nvSpPr>
          <p:cNvPr id="180" name="Google Shape;180;p21">
            <a:extLst>
              <a:ext uri="{FF2B5EF4-FFF2-40B4-BE49-F238E27FC236}">
                <a16:creationId xmlns:a16="http://schemas.microsoft.com/office/drawing/2014/main" id="{A3CA9225-3F0D-EDE8-8AC4-1D73E607B252}"/>
              </a:ext>
            </a:extLst>
          </p:cNvPr>
          <p:cNvSpPr txBox="1"/>
          <p:nvPr/>
        </p:nvSpPr>
        <p:spPr>
          <a:xfrm>
            <a:off x="1809750" y="4023321"/>
            <a:ext cx="9048750" cy="369332"/>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dirty="0">
                <a:solidFill>
                  <a:srgbClr val="2B2B2B"/>
                </a:solidFill>
                <a:latin typeface="Arimo"/>
                <a:ea typeface="Arimo"/>
                <a:cs typeface="Arimo"/>
                <a:sym typeface="Arimo"/>
              </a:rPr>
              <a:t>Final Project documentation and  presentation.</a:t>
            </a:r>
          </a:p>
        </p:txBody>
      </p:sp>
      <p:pic>
        <p:nvPicPr>
          <p:cNvPr id="182" name="Google Shape;182;p21" descr="image.png">
            <a:extLst>
              <a:ext uri="{FF2B5EF4-FFF2-40B4-BE49-F238E27FC236}">
                <a16:creationId xmlns:a16="http://schemas.microsoft.com/office/drawing/2014/main" id="{67DE9A38-27A3-E842-F8B6-AD9772C2F435}"/>
              </a:ext>
            </a:extLst>
          </p:cNvPr>
          <p:cNvPicPr preferRelativeResize="0"/>
          <p:nvPr/>
        </p:nvPicPr>
        <p:blipFill rotWithShape="1">
          <a:blip r:embed="rId3">
            <a:alphaModFix/>
            <a:extLst>
              <a:ext uri="{BEBA8EAE-BF5A-486C-A8C5-ECC9F3942E4B}">
                <a14:imgProps xmlns:a14="http://schemas.microsoft.com/office/drawing/2010/main">
                  <a14:imgLayer r:embed="rId4">
                    <a14:imgEffect>
                      <a14:brightnessContrast bright="40000" contrast="40000"/>
                    </a14:imgEffect>
                  </a14:imgLayer>
                </a14:imgProps>
              </a:ext>
            </a:extLst>
          </a:blip>
          <a:srcRect/>
          <a:stretch/>
        </p:blipFill>
        <p:spPr>
          <a:xfrm>
            <a:off x="1300162" y="3290887"/>
            <a:ext cx="238125" cy="276225"/>
          </a:xfrm>
          <a:prstGeom prst="rect">
            <a:avLst/>
          </a:prstGeom>
          <a:noFill/>
          <a:ln>
            <a:noFill/>
          </a:ln>
        </p:spPr>
      </p:pic>
      <p:pic>
        <p:nvPicPr>
          <p:cNvPr id="183" name="Google Shape;183;p21" descr="image.png">
            <a:extLst>
              <a:ext uri="{FF2B5EF4-FFF2-40B4-BE49-F238E27FC236}">
                <a16:creationId xmlns:a16="http://schemas.microsoft.com/office/drawing/2014/main" id="{2A255401-C187-7BA4-0809-FE694030CFDE}"/>
              </a:ext>
            </a:extLst>
          </p:cNvPr>
          <p:cNvPicPr preferRelativeResize="0"/>
          <p:nvPr/>
        </p:nvPicPr>
        <p:blipFill rotWithShape="1">
          <a:blip r:embed="rId5">
            <a:alphaModFix/>
            <a:extLst>
              <a:ext uri="{BEBA8EAE-BF5A-486C-A8C5-ECC9F3942E4B}">
                <a14:imgProps xmlns:a14="http://schemas.microsoft.com/office/drawing/2010/main">
                  <a14:imgLayer r:embed="rId6">
                    <a14:imgEffect>
                      <a14:brightnessContrast bright="40000" contrast="40000"/>
                    </a14:imgEffect>
                  </a14:imgLayer>
                </a14:imgProps>
              </a:ext>
            </a:extLst>
          </a:blip>
          <a:srcRect/>
          <a:stretch/>
        </p:blipFill>
        <p:spPr>
          <a:xfrm>
            <a:off x="1300162" y="2250281"/>
            <a:ext cx="304800" cy="276225"/>
          </a:xfrm>
          <a:prstGeom prst="rect">
            <a:avLst/>
          </a:prstGeom>
          <a:noFill/>
          <a:ln>
            <a:noFill/>
          </a:ln>
        </p:spPr>
      </p:pic>
      <p:pic>
        <p:nvPicPr>
          <p:cNvPr id="184" name="Google Shape;184;p21" descr="image.png">
            <a:extLst>
              <a:ext uri="{FF2B5EF4-FFF2-40B4-BE49-F238E27FC236}">
                <a16:creationId xmlns:a16="http://schemas.microsoft.com/office/drawing/2014/main" id="{74D84A4E-DED7-EB0F-29AA-83F859F28A09}"/>
              </a:ext>
            </a:extLst>
          </p:cNvPr>
          <p:cNvPicPr preferRelativeResize="0"/>
          <p:nvPr/>
        </p:nvPicPr>
        <p:blipFill rotWithShape="1">
          <a:blip r:embed="rId7">
            <a:alphaModFix/>
            <a:extLst>
              <a:ext uri="{BEBA8EAE-BF5A-486C-A8C5-ECC9F3942E4B}">
                <a14:imgProps xmlns:a14="http://schemas.microsoft.com/office/drawing/2010/main">
                  <a14:imgLayer r:embed="rId8">
                    <a14:imgEffect>
                      <a14:brightnessContrast bright="40000" contrast="40000"/>
                    </a14:imgEffect>
                  </a14:imgLayer>
                </a14:imgProps>
              </a:ext>
            </a:extLst>
          </a:blip>
          <a:srcRect/>
          <a:stretch/>
        </p:blipFill>
        <p:spPr>
          <a:xfrm>
            <a:off x="1338262" y="4116428"/>
            <a:ext cx="266700" cy="276225"/>
          </a:xfrm>
          <a:prstGeom prst="rect">
            <a:avLst/>
          </a:prstGeom>
          <a:noFill/>
          <a:ln>
            <a:noFill/>
          </a:ln>
        </p:spPr>
      </p:pic>
      <p:sp>
        <p:nvSpPr>
          <p:cNvPr id="185" name="Google Shape;185;p21">
            <a:extLst>
              <a:ext uri="{FF2B5EF4-FFF2-40B4-BE49-F238E27FC236}">
                <a16:creationId xmlns:a16="http://schemas.microsoft.com/office/drawing/2014/main" id="{251F659A-C0C9-F7B9-736F-E70446005F85}"/>
              </a:ext>
            </a:extLst>
          </p:cNvPr>
          <p:cNvSpPr txBox="1"/>
          <p:nvPr/>
        </p:nvSpPr>
        <p:spPr>
          <a:xfrm>
            <a:off x="1809750" y="667753"/>
            <a:ext cx="7642058" cy="830997"/>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5400" b="1" i="0" u="none" strike="noStrike" cap="none" dirty="0">
                <a:solidFill>
                  <a:schemeClr val="accent2"/>
                </a:solidFill>
                <a:latin typeface="+mj-lt"/>
                <a:ea typeface="Arimo"/>
                <a:cs typeface="Arimo"/>
                <a:sym typeface="Arimo"/>
              </a:rPr>
              <a:t>Deliverables</a:t>
            </a:r>
            <a:endParaRPr sz="5400" b="1" dirty="0">
              <a:solidFill>
                <a:schemeClr val="accent2"/>
              </a:solidFill>
              <a:latin typeface="+mj-lt"/>
            </a:endParaRPr>
          </a:p>
        </p:txBody>
      </p:sp>
    </p:spTree>
    <p:extLst>
      <p:ext uri="{BB962C8B-B14F-4D97-AF65-F5344CB8AC3E}">
        <p14:creationId xmlns:p14="http://schemas.microsoft.com/office/powerpoint/2010/main" val="41342454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22"/>
          <p:cNvSpPr txBox="1"/>
          <p:nvPr/>
        </p:nvSpPr>
        <p:spPr>
          <a:xfrm>
            <a:off x="295275" y="2244030"/>
            <a:ext cx="11601450" cy="1107996"/>
          </a:xfrm>
          <a:prstGeom prst="rect">
            <a:avLst/>
          </a:prstGeom>
          <a:noFill/>
          <a:ln>
            <a:noFill/>
          </a:ln>
        </p:spPr>
        <p:txBody>
          <a:bodyPr spcFirstLastPara="1" wrap="square" lIns="0" tIns="0" rIns="0" bIns="0" anchor="t" anchorCtr="0">
            <a:spAutoFit/>
          </a:bodyPr>
          <a:lstStyle/>
          <a:p>
            <a:pPr lvl="0" algn="ctr"/>
            <a:r>
              <a:rPr lang="en-US" sz="7200" dirty="0">
                <a:solidFill>
                  <a:srgbClr val="4A4A4A"/>
                </a:solidFill>
                <a:latin typeface="Arimo"/>
                <a:ea typeface="Arimo"/>
                <a:cs typeface="Arimo"/>
                <a:sym typeface="Arimo"/>
              </a:rPr>
              <a:t>Thank you</a:t>
            </a:r>
            <a:endParaRPr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9">
          <a:extLst>
            <a:ext uri="{FF2B5EF4-FFF2-40B4-BE49-F238E27FC236}">
              <a16:creationId xmlns:a16="http://schemas.microsoft.com/office/drawing/2014/main" id="{9FA924AD-8783-0CE5-24CF-87B816694167}"/>
            </a:ext>
          </a:extLst>
        </p:cNvPr>
        <p:cNvGrpSpPr/>
        <p:nvPr/>
      </p:nvGrpSpPr>
      <p:grpSpPr>
        <a:xfrm>
          <a:off x="0" y="0"/>
          <a:ext cx="0" cy="0"/>
          <a:chOff x="0" y="0"/>
          <a:chExt cx="0" cy="0"/>
        </a:xfrm>
      </p:grpSpPr>
      <p:sp>
        <p:nvSpPr>
          <p:cNvPr id="190" name="Google Shape;190;p22">
            <a:extLst>
              <a:ext uri="{FF2B5EF4-FFF2-40B4-BE49-F238E27FC236}">
                <a16:creationId xmlns:a16="http://schemas.microsoft.com/office/drawing/2014/main" id="{6D6F7161-EC4A-AB2D-E696-305A33381822}"/>
              </a:ext>
            </a:extLst>
          </p:cNvPr>
          <p:cNvSpPr txBox="1"/>
          <p:nvPr/>
        </p:nvSpPr>
        <p:spPr>
          <a:xfrm>
            <a:off x="728411" y="848366"/>
            <a:ext cx="11601450" cy="1038746"/>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6750" b="1" dirty="0">
                <a:solidFill>
                  <a:srgbClr val="2B2B2B"/>
                </a:solidFill>
                <a:latin typeface="Arimo"/>
                <a:ea typeface="Arimo"/>
                <a:cs typeface="Arimo"/>
                <a:sym typeface="Arimo"/>
              </a:rPr>
              <a:t>References </a:t>
            </a:r>
            <a:endParaRPr dirty="0"/>
          </a:p>
        </p:txBody>
      </p:sp>
      <p:pic>
        <p:nvPicPr>
          <p:cNvPr id="7" name="Picture 6">
            <a:extLst>
              <a:ext uri="{FF2B5EF4-FFF2-40B4-BE49-F238E27FC236}">
                <a16:creationId xmlns:a16="http://schemas.microsoft.com/office/drawing/2014/main" id="{906B2A27-ABC8-CDFC-5349-62649B2A259E}"/>
              </a:ext>
            </a:extLst>
          </p:cNvPr>
          <p:cNvPicPr>
            <a:picLocks noChangeAspect="1"/>
          </p:cNvPicPr>
          <p:nvPr/>
        </p:nvPicPr>
        <p:blipFill>
          <a:blip r:embed="rId3"/>
          <a:stretch>
            <a:fillRect/>
          </a:stretch>
        </p:blipFill>
        <p:spPr>
          <a:xfrm>
            <a:off x="1844042" y="2181821"/>
            <a:ext cx="8938976" cy="3996639"/>
          </a:xfrm>
          <a:prstGeom prst="rect">
            <a:avLst/>
          </a:prstGeom>
        </p:spPr>
      </p:pic>
    </p:spTree>
    <p:extLst>
      <p:ext uri="{BB962C8B-B14F-4D97-AF65-F5344CB8AC3E}">
        <p14:creationId xmlns:p14="http://schemas.microsoft.com/office/powerpoint/2010/main" val="27324463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23"/>
          <p:cNvSpPr/>
          <p:nvPr/>
        </p:nvSpPr>
        <p:spPr>
          <a:xfrm>
            <a:off x="571500" y="2978497"/>
            <a:ext cx="11049000" cy="78477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98" name="Google Shape;198;p23"/>
          <p:cNvSpPr/>
          <p:nvPr/>
        </p:nvSpPr>
        <p:spPr>
          <a:xfrm>
            <a:off x="571500" y="3753742"/>
            <a:ext cx="11049000" cy="9525"/>
          </a:xfrm>
          <a:prstGeom prst="rect">
            <a:avLst/>
          </a:prstGeom>
          <a:solidFill>
            <a:srgbClr val="75757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99" name="Google Shape;199;p23"/>
          <p:cNvSpPr/>
          <p:nvPr/>
        </p:nvSpPr>
        <p:spPr>
          <a:xfrm>
            <a:off x="571500" y="3753742"/>
            <a:ext cx="11049000" cy="9525"/>
          </a:xfrm>
          <a:prstGeom prst="rect">
            <a:avLst/>
          </a:prstGeom>
          <a:solidFill>
            <a:srgbClr val="75757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00" name="Google Shape;200;p23" descr="image.png"/>
          <p:cNvPicPr preferRelativeResize="0"/>
          <p:nvPr/>
        </p:nvPicPr>
        <p:blipFill rotWithShape="1">
          <a:blip r:embed="rId3">
            <a:alphaModFix/>
          </a:blip>
          <a:srcRect/>
          <a:stretch/>
        </p:blipFill>
        <p:spPr>
          <a:xfrm>
            <a:off x="571500" y="3127920"/>
            <a:ext cx="857250" cy="476250"/>
          </a:xfrm>
          <a:prstGeom prst="rect">
            <a:avLst/>
          </a:prstGeom>
          <a:noFill/>
          <a:ln>
            <a:noFill/>
          </a:ln>
        </p:spPr>
      </p:pic>
      <p:sp>
        <p:nvSpPr>
          <p:cNvPr id="201" name="Google Shape;201;p23"/>
          <p:cNvSpPr txBox="1"/>
          <p:nvPr/>
        </p:nvSpPr>
        <p:spPr>
          <a:xfrm>
            <a:off x="1666875" y="3121372"/>
            <a:ext cx="9953625" cy="19809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975" b="0" i="0" u="none" strike="noStrike" cap="none">
                <a:solidFill>
                  <a:srgbClr val="4A4A4A"/>
                </a:solidFill>
                <a:latin typeface="Arimo"/>
                <a:ea typeface="Arimo"/>
                <a:cs typeface="Arimo"/>
                <a:sym typeface="Arimo"/>
              </a:rPr>
              <a:t>https://i.etsystatic.com/12085891/r/il/aeef69/3597520345/il_570xN.3597520345_kbu3.jpg</a:t>
            </a:r>
            <a:endParaRPr/>
          </a:p>
        </p:txBody>
      </p:sp>
      <p:sp>
        <p:nvSpPr>
          <p:cNvPr id="202" name="Google Shape;202;p23"/>
          <p:cNvSpPr txBox="1"/>
          <p:nvPr/>
        </p:nvSpPr>
        <p:spPr>
          <a:xfrm>
            <a:off x="1666875" y="3367087"/>
            <a:ext cx="9953625" cy="2437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4A4A4A"/>
                </a:solidFill>
                <a:latin typeface="Arimo"/>
                <a:ea typeface="Arimo"/>
                <a:cs typeface="Arimo"/>
                <a:sym typeface="Arimo"/>
              </a:rPr>
              <a:t>Source: </a:t>
            </a:r>
            <a:r>
              <a:rPr lang="en-US" sz="1200" b="0" i="0" u="none" strike="noStrike" cap="none">
                <a:solidFill>
                  <a:srgbClr val="4F46E5"/>
                </a:solidFill>
                <a:latin typeface="Arimo"/>
                <a:ea typeface="Arimo"/>
                <a:cs typeface="Arimo"/>
                <a:sym typeface="Arimo"/>
              </a:rPr>
              <a:t>www.etsy.com</a:t>
            </a:r>
            <a:endParaRPr/>
          </a:p>
        </p:txBody>
      </p:sp>
      <p:pic>
        <p:nvPicPr>
          <p:cNvPr id="203" name="Google Shape;203;p23" descr="image.png"/>
          <p:cNvPicPr preferRelativeResize="0"/>
          <p:nvPr/>
        </p:nvPicPr>
        <p:blipFill rotWithShape="1">
          <a:blip r:embed="rId4">
            <a:alphaModFix/>
          </a:blip>
          <a:srcRect/>
          <a:stretch/>
        </p:blipFill>
        <p:spPr>
          <a:xfrm>
            <a:off x="571500" y="4011810"/>
            <a:ext cx="857250" cy="476250"/>
          </a:xfrm>
          <a:prstGeom prst="rect">
            <a:avLst/>
          </a:prstGeom>
          <a:noFill/>
          <a:ln>
            <a:noFill/>
          </a:ln>
        </p:spPr>
      </p:pic>
      <p:sp>
        <p:nvSpPr>
          <p:cNvPr id="204" name="Google Shape;204;p23"/>
          <p:cNvSpPr txBox="1"/>
          <p:nvPr/>
        </p:nvSpPr>
        <p:spPr>
          <a:xfrm>
            <a:off x="1666875" y="3906142"/>
            <a:ext cx="9953625" cy="3961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975" b="0" i="0" u="none" strike="noStrike" cap="none">
                <a:solidFill>
                  <a:srgbClr val="4A4A4A"/>
                </a:solidFill>
                <a:latin typeface="Arimo"/>
                <a:ea typeface="Arimo"/>
                <a:cs typeface="Arimo"/>
                <a:sym typeface="Arimo"/>
              </a:rPr>
              <a:t>https://media.istockphoto.com/id/505693274/photo/old-letter-with-handwritten-text-grunge-vintage-texture.jpg?s=612x612&amp;w=0&amp;k=20&amp;c=pyYYud2B7-cUY3Sjp90PT8WVQaJAUZhHH2tPInq0sWc=</a:t>
            </a:r>
            <a:endParaRPr/>
          </a:p>
        </p:txBody>
      </p:sp>
      <p:sp>
        <p:nvSpPr>
          <p:cNvPr id="205" name="Google Shape;205;p23"/>
          <p:cNvSpPr txBox="1"/>
          <p:nvPr/>
        </p:nvSpPr>
        <p:spPr>
          <a:xfrm>
            <a:off x="1666875" y="4349948"/>
            <a:ext cx="9953625" cy="2437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4A4A4A"/>
                </a:solidFill>
                <a:latin typeface="Arimo"/>
                <a:ea typeface="Arimo"/>
                <a:cs typeface="Arimo"/>
                <a:sym typeface="Arimo"/>
              </a:rPr>
              <a:t>Source: </a:t>
            </a:r>
            <a:r>
              <a:rPr lang="en-US" sz="1200" b="0" i="0" u="none" strike="noStrike" cap="none">
                <a:solidFill>
                  <a:srgbClr val="4F46E5"/>
                </a:solidFill>
                <a:latin typeface="Arimo"/>
                <a:ea typeface="Arimo"/>
                <a:cs typeface="Arimo"/>
                <a:sym typeface="Arimo"/>
              </a:rPr>
              <a:t>www.istockphoto.com</a:t>
            </a:r>
            <a:endParaRPr/>
          </a:p>
        </p:txBody>
      </p:sp>
      <p:sp>
        <p:nvSpPr>
          <p:cNvPr id="206" name="Google Shape;206;p23"/>
          <p:cNvSpPr txBox="1"/>
          <p:nvPr/>
        </p:nvSpPr>
        <p:spPr>
          <a:xfrm>
            <a:off x="571500" y="571500"/>
            <a:ext cx="11601450" cy="4762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2B2B2B"/>
                </a:solidFill>
                <a:latin typeface="Arimo"/>
                <a:ea typeface="Arimo"/>
                <a:cs typeface="Arimo"/>
                <a:sym typeface="Arimo"/>
              </a:rPr>
              <a:t>Image Sources</a:t>
            </a:r>
            <a:endParaRPr/>
          </a:p>
        </p:txBody>
      </p:sp>
    </p:spTree>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Ion Boardroom</Template>
  <TotalTime>280</TotalTime>
  <Words>854</Words>
  <Application>Microsoft Office PowerPoint</Application>
  <PresentationFormat>Widescreen</PresentationFormat>
  <Paragraphs>76</Paragraphs>
  <Slides>14</Slides>
  <Notes>12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Calibri Light</vt:lpstr>
      <vt:lpstr>ADLaM Display</vt:lpstr>
      <vt:lpstr>Aptos</vt:lpstr>
      <vt:lpstr>Arimo</vt:lpstr>
      <vt:lpstr>Calibri</vt:lpstr>
      <vt:lpstr>Arial</vt:lpstr>
      <vt:lpstr>Times New Roman</vt:lpstr>
      <vt:lpstr>Office 2013 - 2022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Anas Yunusa</cp:lastModifiedBy>
  <cp:revision>22</cp:revision>
  <dcterms:modified xsi:type="dcterms:W3CDTF">2026-03-05T10:25:30Z</dcterms:modified>
</cp:coreProperties>
</file>